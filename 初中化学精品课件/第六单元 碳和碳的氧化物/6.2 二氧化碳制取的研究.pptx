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5" r:id="rId3"/>
    <p:sldId id="308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47" r:id="rId13"/>
    <p:sldId id="333" r:id="rId14"/>
    <p:sldId id="334" r:id="rId15"/>
    <p:sldId id="336" r:id="rId16"/>
    <p:sldId id="335" r:id="rId17"/>
    <p:sldId id="337" r:id="rId18"/>
    <p:sldId id="338" r:id="rId19"/>
    <p:sldId id="339" r:id="rId20"/>
    <p:sldId id="309" r:id="rId21"/>
    <p:sldId id="340" r:id="rId22"/>
    <p:sldId id="341" r:id="rId23"/>
    <p:sldId id="342" r:id="rId24"/>
    <p:sldId id="343" r:id="rId25"/>
    <p:sldId id="344" r:id="rId26"/>
    <p:sldId id="345" r:id="rId27"/>
    <p:sldId id="324" r:id="rId28"/>
    <p:sldId id="346" r:id="rId29"/>
    <p:sldId id="291" r:id="rId30"/>
    <p:sldId id="281" r:id="rId31"/>
    <p:sldId id="28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B6BF"/>
    <a:srgbClr val="C1D8E7"/>
    <a:srgbClr val="D1E4F3"/>
    <a:srgbClr val="E4E4E5"/>
    <a:srgbClr val="E49A5D"/>
    <a:srgbClr val="D6DCE5"/>
    <a:srgbClr val="F5A662"/>
    <a:srgbClr val="F4A663"/>
    <a:srgbClr val="4A4A4A"/>
    <a:srgbClr val="FE5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13"/>
    <p:restoredTop sz="94673"/>
  </p:normalViewPr>
  <p:slideViewPr>
    <p:cSldViewPr snapToGrid="0" snapToObjects="1">
      <p:cViewPr varScale="1">
        <p:scale>
          <a:sx n="112" d="100"/>
          <a:sy n="112" d="100"/>
        </p:scale>
        <p:origin x="110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59" d="100"/>
          <a:sy n="159" d="100"/>
        </p:scale>
        <p:origin x="465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D49AD2B-4561-0447-B6A1-9C7076B9C4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FAA39F-8A57-E747-AC31-310F1B91B9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7041F0-FC21-3449-B0AE-7B88BF0417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6A233-4166-AF44-9A4C-F7630195D4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0047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DC997-FC8D-8E4F-AE26-EE861028B010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E7160-B20B-E147-A381-2A27121218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199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E7160-B20B-E147-A381-2A27121218F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657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E7160-B20B-E147-A381-2A27121218F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537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E7160-B20B-E147-A381-2A27121218F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0379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E7160-B20B-E147-A381-2A27121218F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4376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E7160-B20B-E147-A381-2A27121218FB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9587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2">
            <a:extLst>
              <a:ext uri="{FF2B5EF4-FFF2-40B4-BE49-F238E27FC236}">
                <a16:creationId xmlns:a16="http://schemas.microsoft.com/office/drawing/2014/main" id="{CE03F4A7-AC5C-8E4C-AEF4-5909F07B2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680960" cy="6858000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80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8" name="矩形 7"/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04384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 descr="e7d195523061f1c0c2b73831c94a3edc981f60e396d3e182073EE1468018468A7F192AE5E5CD515B6C3125F8AF6E4EE646174E8CF0B46FD19828DCE8CDA3B3A044A74F0E769C5FA8CB87AB6FC303C8BA3785FAC64AF542474BA5F9EB2A8BAF443F6B6A44C303FFC13CB1F317EC85E452F0B3C9F20C1D11E1D565FFE38EDC68CB92E3238B67264DF72DF26436476BF8BF"/>
          <p:cNvSpPr/>
          <p:nvPr userDrawn="1"/>
        </p:nvSpPr>
        <p:spPr>
          <a:xfrm>
            <a:off x="0" y="0"/>
            <a:ext cx="12191999" cy="5295900"/>
          </a:xfrm>
          <a:custGeom>
            <a:avLst/>
            <a:gdLst>
              <a:gd name="connsiteX0" fmla="*/ 1 w 12191999"/>
              <a:gd name="connsiteY0" fmla="*/ 0 h 4513958"/>
              <a:gd name="connsiteX1" fmla="*/ 12191999 w 12191999"/>
              <a:gd name="connsiteY1" fmla="*/ 1 h 4513958"/>
              <a:gd name="connsiteX2" fmla="*/ 12191999 w 12191999"/>
              <a:gd name="connsiteY2" fmla="*/ 3031064 h 4513958"/>
              <a:gd name="connsiteX3" fmla="*/ 0 w 12191999"/>
              <a:gd name="connsiteY3" fmla="*/ 4513958 h 451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513958">
                <a:moveTo>
                  <a:pt x="1" y="0"/>
                </a:moveTo>
                <a:lnTo>
                  <a:pt x="12191999" y="1"/>
                </a:lnTo>
                <a:lnTo>
                  <a:pt x="12191999" y="3031064"/>
                </a:lnTo>
                <a:lnTo>
                  <a:pt x="0" y="4513958"/>
                </a:lnTo>
                <a:close/>
              </a:path>
            </a:pathLst>
          </a:custGeom>
          <a:gradFill flip="none" rotWithShape="1">
            <a:gsLst>
              <a:gs pos="100000">
                <a:schemeClr val="tx2">
                  <a:lumMod val="40000"/>
                  <a:lumOff val="60000"/>
                </a:schemeClr>
              </a:gs>
              <a:gs pos="0">
                <a:srgbClr val="F4A663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1" name="组 6">
            <a:extLst>
              <a:ext uri="{FF2B5EF4-FFF2-40B4-BE49-F238E27FC236}">
                <a16:creationId xmlns:a16="http://schemas.microsoft.com/office/drawing/2014/main" id="{098C9299-1B40-3648-92AA-C2C1000BD8DB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262F848-3C56-304C-8D04-BAEDA736F9F3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7A3376E-93F3-0A49-A4AF-C08DCFD25F0B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25DF8CB-2AFD-7B42-AB43-796EB4E33EC4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68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/>
          <p:cNvSpPr>
            <a:spLocks noGrp="1"/>
          </p:cNvSpPr>
          <p:nvPr>
            <p:ph sz="quarter" idx="11"/>
          </p:nvPr>
        </p:nvSpPr>
        <p:spPr>
          <a:xfrm>
            <a:off x="1178317" y="1293967"/>
            <a:ext cx="10081239" cy="2339975"/>
          </a:xfrm>
        </p:spPr>
        <p:txBody>
          <a:bodyPr/>
          <a:lstStyle/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769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ABDC43E0-5872-BC41-BEDA-5912ABC190C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FEA73539-3C1B-8C42-92CB-28ACC4C5C5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4296" y="-667042"/>
            <a:ext cx="8019498" cy="7991796"/>
          </a:xfrm>
          <a:custGeom>
            <a:avLst/>
            <a:gdLst>
              <a:gd name="connsiteX0" fmla="*/ 3544670 w 8019498"/>
              <a:gd name="connsiteY0" fmla="*/ 0 h 7991796"/>
              <a:gd name="connsiteX1" fmla="*/ 4474826 w 8019498"/>
              <a:gd name="connsiteY1" fmla="*/ 0 h 7991796"/>
              <a:gd name="connsiteX2" fmla="*/ 4620393 w 8019498"/>
              <a:gd name="connsiteY2" fmla="*/ 18498 h 7991796"/>
              <a:gd name="connsiteX3" fmla="*/ 8019498 w 8019498"/>
              <a:gd name="connsiteY3" fmla="*/ 3982046 h 7991796"/>
              <a:gd name="connsiteX4" fmla="*/ 4009748 w 8019498"/>
              <a:gd name="connsiteY4" fmla="*/ 7991796 h 7991796"/>
              <a:gd name="connsiteX5" fmla="*/ 5216 w 8019498"/>
              <a:gd name="connsiteY5" fmla="*/ 4188388 h 7991796"/>
              <a:gd name="connsiteX6" fmla="*/ 0 w 8019498"/>
              <a:gd name="connsiteY6" fmla="*/ 3982122 h 7991796"/>
              <a:gd name="connsiteX7" fmla="*/ 0 w 8019498"/>
              <a:gd name="connsiteY7" fmla="*/ 3981971 h 7991796"/>
              <a:gd name="connsiteX8" fmla="*/ 5216 w 8019498"/>
              <a:gd name="connsiteY8" fmla="*/ 3775705 h 7991796"/>
              <a:gd name="connsiteX9" fmla="*/ 3399103 w 8019498"/>
              <a:gd name="connsiteY9" fmla="*/ 18498 h 7991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19498" h="7991796">
                <a:moveTo>
                  <a:pt x="3544670" y="0"/>
                </a:moveTo>
                <a:lnTo>
                  <a:pt x="4474826" y="0"/>
                </a:lnTo>
                <a:lnTo>
                  <a:pt x="4620393" y="18498"/>
                </a:lnTo>
                <a:cubicBezTo>
                  <a:pt x="6545098" y="312586"/>
                  <a:pt x="8019498" y="1975134"/>
                  <a:pt x="8019498" y="3982046"/>
                </a:cubicBezTo>
                <a:cubicBezTo>
                  <a:pt x="8019498" y="6196570"/>
                  <a:pt x="6224272" y="7991796"/>
                  <a:pt x="4009748" y="7991796"/>
                </a:cubicBezTo>
                <a:cubicBezTo>
                  <a:pt x="1864428" y="7991796"/>
                  <a:pt x="112610" y="6307019"/>
                  <a:pt x="5216" y="4188388"/>
                </a:cubicBezTo>
                <a:lnTo>
                  <a:pt x="0" y="3982122"/>
                </a:lnTo>
                <a:lnTo>
                  <a:pt x="0" y="3981971"/>
                </a:lnTo>
                <a:lnTo>
                  <a:pt x="5216" y="3775705"/>
                </a:lnTo>
                <a:cubicBezTo>
                  <a:pt x="102217" y="1862103"/>
                  <a:pt x="1540767" y="302445"/>
                  <a:pt x="3399103" y="1849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grpSp>
        <p:nvGrpSpPr>
          <p:cNvPr id="8" name="组 6">
            <a:extLst>
              <a:ext uri="{FF2B5EF4-FFF2-40B4-BE49-F238E27FC236}">
                <a16:creationId xmlns:a16="http://schemas.microsoft.com/office/drawing/2014/main" id="{431B01B0-31AC-FB4D-98A7-B75586BF7B5C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DE78E01-440D-B44E-8A91-E7F45486720C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77844BE-37DF-FF4D-8473-97FF4500638E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8D45F5-C5F4-5141-A157-150F532F4ED6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627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1D1D2D74-BE4A-744D-AB69-E79FA0B180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75" y="858838"/>
            <a:ext cx="2525713" cy="2525712"/>
          </a:xfrm>
        </p:spPr>
        <p:txBody>
          <a:bodyPr/>
          <a:lstStyle/>
          <a:p>
            <a:pPr lvl="1"/>
            <a:endParaRPr kumimoji="1" lang="zh-CN" altLang="en-US" dirty="0"/>
          </a:p>
        </p:txBody>
      </p:sp>
      <p:sp>
        <p:nvSpPr>
          <p:cNvPr id="16" name="内容占位符 14">
            <a:extLst>
              <a:ext uri="{FF2B5EF4-FFF2-40B4-BE49-F238E27FC236}">
                <a16:creationId xmlns:a16="http://schemas.microsoft.com/office/drawing/2014/main" id="{4E0ED6BB-58D6-CC47-B82D-215920EA06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89377" y="858838"/>
            <a:ext cx="2525713" cy="2525712"/>
          </a:xfrm>
        </p:spPr>
        <p:txBody>
          <a:bodyPr/>
          <a:lstStyle/>
          <a:p>
            <a:pPr lvl="1"/>
            <a:endParaRPr kumimoji="1" lang="zh-CN" altLang="en-US" dirty="0"/>
          </a:p>
        </p:txBody>
      </p:sp>
      <p:sp>
        <p:nvSpPr>
          <p:cNvPr id="17" name="内容占位符 14">
            <a:extLst>
              <a:ext uri="{FF2B5EF4-FFF2-40B4-BE49-F238E27FC236}">
                <a16:creationId xmlns:a16="http://schemas.microsoft.com/office/drawing/2014/main" id="{9A157A56-5CF7-6D4A-A4A1-5829A1D991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7285" y="3631883"/>
            <a:ext cx="2525713" cy="2525712"/>
          </a:xfrm>
        </p:spPr>
        <p:txBody>
          <a:bodyPr/>
          <a:lstStyle/>
          <a:p>
            <a:pPr lvl="1"/>
            <a:endParaRPr kumimoji="1" lang="zh-CN" altLang="en-US" dirty="0"/>
          </a:p>
        </p:txBody>
      </p:sp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3AF2D5E1-1586-9543-9E30-342D73B31F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2465" y="3631883"/>
            <a:ext cx="2525713" cy="2525712"/>
          </a:xfrm>
        </p:spPr>
        <p:txBody>
          <a:bodyPr/>
          <a:lstStyle/>
          <a:p>
            <a:pPr lvl="1"/>
            <a:endParaRPr kumimoji="1" lang="zh-CN" altLang="en-US" dirty="0"/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AB5C3600-3665-AB48-98EA-B2773373EBE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1" name="组 6">
            <a:extLst>
              <a:ext uri="{FF2B5EF4-FFF2-40B4-BE49-F238E27FC236}">
                <a16:creationId xmlns:a16="http://schemas.microsoft.com/office/drawing/2014/main" id="{1AB706B8-B7E2-334F-BF2C-96532E8FF359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F139A1E-E581-E04A-9983-E073EAD946D4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DEA5D82-9942-594F-BD3D-3DC200B02AE6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529B64E-3020-2245-87F7-6A8710270F99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2447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0192432B-A3F2-0249-8F12-06BF9C0B97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89304" y="1163167"/>
            <a:ext cx="3386875" cy="3375176"/>
          </a:xfrm>
          <a:custGeom>
            <a:avLst/>
            <a:gdLst>
              <a:gd name="connsiteX0" fmla="*/ 4009749 w 8019498"/>
              <a:gd name="connsiteY0" fmla="*/ 0 h 7991796"/>
              <a:gd name="connsiteX1" fmla="*/ 8019498 w 8019498"/>
              <a:gd name="connsiteY1" fmla="*/ 3995898 h 7991796"/>
              <a:gd name="connsiteX2" fmla="*/ 4009749 w 8019498"/>
              <a:gd name="connsiteY2" fmla="*/ 7991796 h 7991796"/>
              <a:gd name="connsiteX3" fmla="*/ 0 w 8019498"/>
              <a:gd name="connsiteY3" fmla="*/ 3995898 h 7991796"/>
              <a:gd name="connsiteX4" fmla="*/ 4009749 w 8019498"/>
              <a:gd name="connsiteY4" fmla="*/ 0 h 7991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9498" h="7991796">
                <a:moveTo>
                  <a:pt x="4009749" y="0"/>
                </a:moveTo>
                <a:cubicBezTo>
                  <a:pt x="6224272" y="0"/>
                  <a:pt x="8019498" y="1789024"/>
                  <a:pt x="8019498" y="3995898"/>
                </a:cubicBezTo>
                <a:cubicBezTo>
                  <a:pt x="8019498" y="6202772"/>
                  <a:pt x="6224272" y="7991796"/>
                  <a:pt x="4009749" y="7991796"/>
                </a:cubicBezTo>
                <a:cubicBezTo>
                  <a:pt x="1795226" y="7991796"/>
                  <a:pt x="0" y="6202772"/>
                  <a:pt x="0" y="3995898"/>
                </a:cubicBezTo>
                <a:cubicBezTo>
                  <a:pt x="0" y="1789024"/>
                  <a:pt x="1795226" y="0"/>
                  <a:pt x="40097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sp>
        <p:nvSpPr>
          <p:cNvPr id="6" name="Oval 14" descr="e7d195523061f1c0c2b73831c94a3edc981f60e396d3e182073EE1468018468A7F192AE5E5CD515B6C3125F8AF6E4EE646174E8CF0B46FD19828DCE8CDA3B3A044A74F0E769C5FA8CB87AB6FC303C8BA3785FAC64AF542474BA5F9EB2A8BAF443F6B6A44C303FFC13CB1F317EC85E452F0B3C9F20C1D11E1D565FFE38EDC68CB92E3238B67264DF72DF26436476BF8BF">
            <a:extLst>
              <a:ext uri="{FF2B5EF4-FFF2-40B4-BE49-F238E27FC236}">
                <a16:creationId xmlns:a16="http://schemas.microsoft.com/office/drawing/2014/main" id="{D05B84BD-BF90-B146-B14E-A72323DB49CE}"/>
              </a:ext>
            </a:extLst>
          </p:cNvPr>
          <p:cNvSpPr/>
          <p:nvPr userDrawn="1"/>
        </p:nvSpPr>
        <p:spPr>
          <a:xfrm>
            <a:off x="8019893" y="660052"/>
            <a:ext cx="2310166" cy="231016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8" descr="e7d195523061f1c0c2b73831c94a3edc981f60e396d3e182073EE1468018468A7F192AE5E5CD515B6C3125F8AF6E4EE646174E8CF0B46FD19828DCE8CDA3B3A044A74F0E769C5FA8CB87AB6FC303C8BA3785FAC64AF542474BA5F9EB2A8BAF443F6B6A44C303FFC13CB1F317EC85E452F0B3C9F20C1D11E1D565FFE38EDC68CB92E3238B67264DF72DF26436476BF8BF">
            <a:extLst>
              <a:ext uri="{FF2B5EF4-FFF2-40B4-BE49-F238E27FC236}">
                <a16:creationId xmlns:a16="http://schemas.microsoft.com/office/drawing/2014/main" id="{F94EEEBA-1D08-6C4A-9426-7D04AC144B14}"/>
              </a:ext>
            </a:extLst>
          </p:cNvPr>
          <p:cNvSpPr/>
          <p:nvPr userDrawn="1"/>
        </p:nvSpPr>
        <p:spPr>
          <a:xfrm>
            <a:off x="-903398" y="2418764"/>
            <a:ext cx="2800758" cy="2800758"/>
          </a:xfrm>
          <a:prstGeom prst="ellipse">
            <a:avLst/>
          </a:prstGeom>
          <a:solidFill>
            <a:srgbClr val="F4A663"/>
          </a:solidFill>
          <a:ln>
            <a:noFill/>
          </a:ln>
          <a:effectLst>
            <a:outerShdw blurRad="1270000" algn="ct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0DDD8B0B-CB5E-C047-B5B9-721DBA855D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0" name="组 6">
            <a:extLst>
              <a:ext uri="{FF2B5EF4-FFF2-40B4-BE49-F238E27FC236}">
                <a16:creationId xmlns:a16="http://schemas.microsoft.com/office/drawing/2014/main" id="{D317E9C5-C4C0-6D46-8AEF-C67E98B74A69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32CD10A-576F-8E40-8B0C-29AF134ED7B0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4C0F13E-ED60-1B47-A3D5-032989D01DE6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D0D0BFA-9E66-AA42-A8A3-31980825D0AF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783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B2B4E542-AFE1-1244-A924-0DD64B692C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103438" y="1256380"/>
            <a:ext cx="7988300" cy="4496720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0" name="内容占位符 7">
            <a:extLst>
              <a:ext uri="{FF2B5EF4-FFF2-40B4-BE49-F238E27FC236}">
                <a16:creationId xmlns:a16="http://schemas.microsoft.com/office/drawing/2014/main" id="{3B509D50-E64F-EB4D-A13D-D7BDCA0B95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4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3CF0A2C5-AC46-C34B-817A-ABCA296DF3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41413" y="1535113"/>
            <a:ext cx="4824412" cy="2971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F8A26AE0-A7C6-E949-B47D-F56C6A3A7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3927" y="1534389"/>
            <a:ext cx="4824412" cy="2971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DF22D59-549F-7A47-9535-6BE0C1395A6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9" name="组 6">
            <a:extLst>
              <a:ext uri="{FF2B5EF4-FFF2-40B4-BE49-F238E27FC236}">
                <a16:creationId xmlns:a16="http://schemas.microsoft.com/office/drawing/2014/main" id="{44C6B901-E471-9948-BE6E-ECABF85875AA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8ECFB5B-C6AC-DD4E-BC2F-0465D1EC3B2C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E327F71-95B5-F041-B38C-AAC76AB4333E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94B62F8-55A2-934F-A9AF-6E178AE7B805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9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560DCFA4-9309-8C42-B124-3306BD540F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94175" y="1192213"/>
            <a:ext cx="3082925" cy="2266950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9" name="图片占位符 17">
            <a:extLst>
              <a:ext uri="{FF2B5EF4-FFF2-40B4-BE49-F238E27FC236}">
                <a16:creationId xmlns:a16="http://schemas.microsoft.com/office/drawing/2014/main" id="{7EE6A164-67E9-6347-A22B-013E220687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31587" y="1192140"/>
            <a:ext cx="4760413" cy="2266950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0" name="图片占位符 17">
            <a:extLst>
              <a:ext uri="{FF2B5EF4-FFF2-40B4-BE49-F238E27FC236}">
                <a16:creationId xmlns:a16="http://schemas.microsoft.com/office/drawing/2014/main" id="{9899E179-4285-8B4B-94E5-3B6474A870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3957" y="3610660"/>
            <a:ext cx="3083144" cy="324067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1" name="图片占位符 17">
            <a:extLst>
              <a:ext uri="{FF2B5EF4-FFF2-40B4-BE49-F238E27FC236}">
                <a16:creationId xmlns:a16="http://schemas.microsoft.com/office/drawing/2014/main" id="{D3E4731B-9733-D245-BDB6-BAA47219EF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569" y="-68909"/>
            <a:ext cx="3074085" cy="3528000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460C3B-973C-964F-93DE-F59AAA479FB5}"/>
              </a:ext>
            </a:extLst>
          </p:cNvPr>
          <p:cNvSpPr/>
          <p:nvPr userDrawn="1"/>
        </p:nvSpPr>
        <p:spPr>
          <a:xfrm>
            <a:off x="0" y="3611338"/>
            <a:ext cx="4038897" cy="2266273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FC90508D-2F47-674C-8501-9A28544EA7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3" name="组 6">
            <a:extLst>
              <a:ext uri="{FF2B5EF4-FFF2-40B4-BE49-F238E27FC236}">
                <a16:creationId xmlns:a16="http://schemas.microsoft.com/office/drawing/2014/main" id="{05D5B6AD-1C55-5542-ABC8-D9835A496E99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6B4A4EA-926F-9F47-885D-305A9D6198AA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81B992E-8A3C-9942-845D-0199D6D7D4EF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459E9BC-84B8-7B4F-A715-EBC0E57948B7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020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5">
            <a:extLst>
              <a:ext uri="{FF2B5EF4-FFF2-40B4-BE49-F238E27FC236}">
                <a16:creationId xmlns:a16="http://schemas.microsoft.com/office/drawing/2014/main" id="{F4ADE3E3-88CF-A444-8101-6906F92DCA14}"/>
              </a:ext>
            </a:extLst>
          </p:cNvPr>
          <p:cNvSpPr/>
          <p:nvPr userDrawn="1"/>
        </p:nvSpPr>
        <p:spPr>
          <a:xfrm rot="10800000">
            <a:off x="0" y="2882973"/>
            <a:ext cx="12226101" cy="4005691"/>
          </a:xfrm>
          <a:custGeom>
            <a:avLst/>
            <a:gdLst>
              <a:gd name="connsiteX0" fmla="*/ 0 w 19200"/>
              <a:gd name="connsiteY0" fmla="*/ 0 h 6759"/>
              <a:gd name="connsiteX1" fmla="*/ 19200 w 19200"/>
              <a:gd name="connsiteY1" fmla="*/ 0 h 6759"/>
              <a:gd name="connsiteX2" fmla="*/ 19200 w 19200"/>
              <a:gd name="connsiteY2" fmla="*/ 4651 h 6759"/>
              <a:gd name="connsiteX3" fmla="*/ 13419 w 19200"/>
              <a:gd name="connsiteY3" fmla="*/ 3427 h 6759"/>
              <a:gd name="connsiteX4" fmla="*/ 5916 w 19200"/>
              <a:gd name="connsiteY4" fmla="*/ 2792 h 6759"/>
              <a:gd name="connsiteX5" fmla="*/ 0 w 19200"/>
              <a:gd name="connsiteY5" fmla="*/ 6759 h 6759"/>
              <a:gd name="connsiteX6" fmla="*/ 0 w 19200"/>
              <a:gd name="connsiteY6" fmla="*/ 0 h 6759"/>
              <a:gd name="connsiteX0" fmla="*/ 0 w 10000"/>
              <a:gd name="connsiteY0" fmla="*/ 0 h 9333"/>
              <a:gd name="connsiteX1" fmla="*/ 10000 w 10000"/>
              <a:gd name="connsiteY1" fmla="*/ 0 h 9333"/>
              <a:gd name="connsiteX2" fmla="*/ 10000 w 10000"/>
              <a:gd name="connsiteY2" fmla="*/ 6881 h 9333"/>
              <a:gd name="connsiteX3" fmla="*/ 6989 w 10000"/>
              <a:gd name="connsiteY3" fmla="*/ 5070 h 9333"/>
              <a:gd name="connsiteX4" fmla="*/ 3081 w 10000"/>
              <a:gd name="connsiteY4" fmla="*/ 4131 h 9333"/>
              <a:gd name="connsiteX5" fmla="*/ 1220 w 10000"/>
              <a:gd name="connsiteY5" fmla="*/ 9333 h 9333"/>
              <a:gd name="connsiteX6" fmla="*/ 0 w 10000"/>
              <a:gd name="connsiteY6" fmla="*/ 0 h 9333"/>
              <a:gd name="connsiteX0" fmla="*/ 0 w 8795"/>
              <a:gd name="connsiteY0" fmla="*/ 55 h 10000"/>
              <a:gd name="connsiteX1" fmla="*/ 8795 w 8795"/>
              <a:gd name="connsiteY1" fmla="*/ 0 h 10000"/>
              <a:gd name="connsiteX2" fmla="*/ 8795 w 8795"/>
              <a:gd name="connsiteY2" fmla="*/ 7373 h 10000"/>
              <a:gd name="connsiteX3" fmla="*/ 5784 w 8795"/>
              <a:gd name="connsiteY3" fmla="*/ 5432 h 10000"/>
              <a:gd name="connsiteX4" fmla="*/ 1876 w 8795"/>
              <a:gd name="connsiteY4" fmla="*/ 4426 h 10000"/>
              <a:gd name="connsiteX5" fmla="*/ 15 w 8795"/>
              <a:gd name="connsiteY5" fmla="*/ 10000 h 10000"/>
              <a:gd name="connsiteX6" fmla="*/ 0 w 8795"/>
              <a:gd name="connsiteY6" fmla="*/ 55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95" h="10000">
                <a:moveTo>
                  <a:pt x="0" y="55"/>
                </a:moveTo>
                <a:lnTo>
                  <a:pt x="8795" y="0"/>
                </a:lnTo>
                <a:lnTo>
                  <a:pt x="8795" y="7373"/>
                </a:lnTo>
                <a:cubicBezTo>
                  <a:pt x="8293" y="8278"/>
                  <a:pt x="6953" y="8451"/>
                  <a:pt x="5784" y="5432"/>
                </a:cubicBezTo>
                <a:cubicBezTo>
                  <a:pt x="4615" y="2414"/>
                  <a:pt x="1369" y="-1613"/>
                  <a:pt x="1876" y="4426"/>
                </a:cubicBezTo>
                <a:cubicBezTo>
                  <a:pt x="2384" y="10464"/>
                  <a:pt x="913" y="8801"/>
                  <a:pt x="15" y="10000"/>
                </a:cubicBezTo>
                <a:lnTo>
                  <a:pt x="0" y="55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40000"/>
                  <a:lumOff val="60000"/>
                  <a:alpha val="39000"/>
                </a:schemeClr>
              </a:gs>
              <a:gs pos="100000">
                <a:srgbClr val="F4A6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291BCD9-FE3E-2842-ACA7-CC85257B35B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3" name="组 6">
            <a:extLst>
              <a:ext uri="{FF2B5EF4-FFF2-40B4-BE49-F238E27FC236}">
                <a16:creationId xmlns:a16="http://schemas.microsoft.com/office/drawing/2014/main" id="{70F9BDE9-19AB-5645-A24A-3A697131B724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337904-EE0A-5946-9248-5C7EEB61FE18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08D0B62-E606-FF4C-8DF2-5BCA3820F32F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6106BA5-7E18-7D4A-A9B1-788E09B11FA0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955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5">
            <a:extLst>
              <a:ext uri="{FF2B5EF4-FFF2-40B4-BE49-F238E27FC236}">
                <a16:creationId xmlns:a16="http://schemas.microsoft.com/office/drawing/2014/main" id="{F4ADE3E3-88CF-A444-8101-6906F92DCA14}"/>
              </a:ext>
            </a:extLst>
          </p:cNvPr>
          <p:cNvSpPr/>
          <p:nvPr userDrawn="1"/>
        </p:nvSpPr>
        <p:spPr>
          <a:xfrm rot="10800000">
            <a:off x="-785814" y="3614737"/>
            <a:ext cx="15669976" cy="5134023"/>
          </a:xfrm>
          <a:custGeom>
            <a:avLst/>
            <a:gdLst>
              <a:gd name="connsiteX0" fmla="*/ 0 w 19200"/>
              <a:gd name="connsiteY0" fmla="*/ 0 h 6759"/>
              <a:gd name="connsiteX1" fmla="*/ 19200 w 19200"/>
              <a:gd name="connsiteY1" fmla="*/ 0 h 6759"/>
              <a:gd name="connsiteX2" fmla="*/ 19200 w 19200"/>
              <a:gd name="connsiteY2" fmla="*/ 4651 h 6759"/>
              <a:gd name="connsiteX3" fmla="*/ 13419 w 19200"/>
              <a:gd name="connsiteY3" fmla="*/ 3427 h 6759"/>
              <a:gd name="connsiteX4" fmla="*/ 5916 w 19200"/>
              <a:gd name="connsiteY4" fmla="*/ 2792 h 6759"/>
              <a:gd name="connsiteX5" fmla="*/ 0 w 19200"/>
              <a:gd name="connsiteY5" fmla="*/ 6759 h 6759"/>
              <a:gd name="connsiteX6" fmla="*/ 0 w 19200"/>
              <a:gd name="connsiteY6" fmla="*/ 0 h 6759"/>
              <a:gd name="connsiteX0" fmla="*/ 0 w 10000"/>
              <a:gd name="connsiteY0" fmla="*/ 0 h 9333"/>
              <a:gd name="connsiteX1" fmla="*/ 10000 w 10000"/>
              <a:gd name="connsiteY1" fmla="*/ 0 h 9333"/>
              <a:gd name="connsiteX2" fmla="*/ 10000 w 10000"/>
              <a:gd name="connsiteY2" fmla="*/ 6881 h 9333"/>
              <a:gd name="connsiteX3" fmla="*/ 6989 w 10000"/>
              <a:gd name="connsiteY3" fmla="*/ 5070 h 9333"/>
              <a:gd name="connsiteX4" fmla="*/ 3081 w 10000"/>
              <a:gd name="connsiteY4" fmla="*/ 4131 h 9333"/>
              <a:gd name="connsiteX5" fmla="*/ 1220 w 10000"/>
              <a:gd name="connsiteY5" fmla="*/ 9333 h 9333"/>
              <a:gd name="connsiteX6" fmla="*/ 0 w 10000"/>
              <a:gd name="connsiteY6" fmla="*/ 0 h 9333"/>
              <a:gd name="connsiteX0" fmla="*/ 0 w 8795"/>
              <a:gd name="connsiteY0" fmla="*/ 55 h 10000"/>
              <a:gd name="connsiteX1" fmla="*/ 8795 w 8795"/>
              <a:gd name="connsiteY1" fmla="*/ 0 h 10000"/>
              <a:gd name="connsiteX2" fmla="*/ 8795 w 8795"/>
              <a:gd name="connsiteY2" fmla="*/ 7373 h 10000"/>
              <a:gd name="connsiteX3" fmla="*/ 5784 w 8795"/>
              <a:gd name="connsiteY3" fmla="*/ 5432 h 10000"/>
              <a:gd name="connsiteX4" fmla="*/ 1876 w 8795"/>
              <a:gd name="connsiteY4" fmla="*/ 4426 h 10000"/>
              <a:gd name="connsiteX5" fmla="*/ 15 w 8795"/>
              <a:gd name="connsiteY5" fmla="*/ 10000 h 10000"/>
              <a:gd name="connsiteX6" fmla="*/ 0 w 8795"/>
              <a:gd name="connsiteY6" fmla="*/ 55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95" h="10000">
                <a:moveTo>
                  <a:pt x="0" y="55"/>
                </a:moveTo>
                <a:lnTo>
                  <a:pt x="8795" y="0"/>
                </a:lnTo>
                <a:lnTo>
                  <a:pt x="8795" y="7373"/>
                </a:lnTo>
                <a:cubicBezTo>
                  <a:pt x="8293" y="8278"/>
                  <a:pt x="6953" y="8451"/>
                  <a:pt x="5784" y="5432"/>
                </a:cubicBezTo>
                <a:cubicBezTo>
                  <a:pt x="4615" y="2414"/>
                  <a:pt x="1369" y="-1613"/>
                  <a:pt x="1876" y="4426"/>
                </a:cubicBezTo>
                <a:cubicBezTo>
                  <a:pt x="2384" y="10464"/>
                  <a:pt x="913" y="8801"/>
                  <a:pt x="15" y="10000"/>
                </a:cubicBezTo>
                <a:lnTo>
                  <a:pt x="0" y="55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40000"/>
                  <a:lumOff val="60000"/>
                  <a:alpha val="39000"/>
                </a:schemeClr>
              </a:gs>
              <a:gs pos="100000">
                <a:srgbClr val="F4A6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291BCD9-FE3E-2842-ACA7-CC85257B35B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8317" y="654204"/>
            <a:ext cx="3511550" cy="6397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lvl="0"/>
            <a:r>
              <a:rPr kumimoji="1" lang="zh-CN" altLang="en-US" dirty="0"/>
              <a:t>单击此处添加标题</a:t>
            </a:r>
          </a:p>
        </p:txBody>
      </p:sp>
      <p:grpSp>
        <p:nvGrpSpPr>
          <p:cNvPr id="13" name="组 6">
            <a:extLst>
              <a:ext uri="{FF2B5EF4-FFF2-40B4-BE49-F238E27FC236}">
                <a16:creationId xmlns:a16="http://schemas.microsoft.com/office/drawing/2014/main" id="{70F9BDE9-19AB-5645-A24A-3A697131B724}"/>
              </a:ext>
            </a:extLst>
          </p:cNvPr>
          <p:cNvGrpSpPr/>
          <p:nvPr userDrawn="1"/>
        </p:nvGrpSpPr>
        <p:grpSpPr>
          <a:xfrm>
            <a:off x="-185851" y="654204"/>
            <a:ext cx="1293543" cy="460918"/>
            <a:chOff x="-185851" y="654204"/>
            <a:chExt cx="1293543" cy="460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337904-EE0A-5946-9248-5C7EEB61FE18}"/>
                </a:ext>
              </a:extLst>
            </p:cNvPr>
            <p:cNvSpPr/>
            <p:nvPr/>
          </p:nvSpPr>
          <p:spPr>
            <a:xfrm>
              <a:off x="-185851" y="654205"/>
              <a:ext cx="973873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08D0B62-E606-FF4C-8DF2-5BCA3820F32F}"/>
                </a:ext>
              </a:extLst>
            </p:cNvPr>
            <p:cNvSpPr/>
            <p:nvPr/>
          </p:nvSpPr>
          <p:spPr>
            <a:xfrm>
              <a:off x="851213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6106BA5-7E18-7D4A-A9B1-788E09B11FA0}"/>
                </a:ext>
              </a:extLst>
            </p:cNvPr>
            <p:cNvSpPr/>
            <p:nvPr/>
          </p:nvSpPr>
          <p:spPr>
            <a:xfrm>
              <a:off x="1014765" y="654204"/>
              <a:ext cx="92927" cy="460917"/>
            </a:xfrm>
            <a:prstGeom prst="rect">
              <a:avLst/>
            </a:prstGeom>
            <a:solidFill>
              <a:srgbClr val="F4A6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306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1CDA-0608-304D-8039-544EDEEDE6F8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A17-0076-8442-8F4A-1A620770C6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448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71CDA-0608-304D-8039-544EDEEDE6F8}" type="datetimeFigureOut">
              <a:rPr kumimoji="1" lang="zh-CN" altLang="en-US" smtClean="0"/>
              <a:t>2019/12/27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5A17-0076-8442-8F4A-1A620770C6F1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4A4A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A903EF9-2595-E045-8784-01BDA5C1F6F2}"/>
              </a:ext>
            </a:extLst>
          </p:cNvPr>
          <p:cNvGrpSpPr/>
          <p:nvPr userDrawn="1"/>
        </p:nvGrpSpPr>
        <p:grpSpPr>
          <a:xfrm>
            <a:off x="-650477" y="331843"/>
            <a:ext cx="13388049" cy="6032604"/>
            <a:chOff x="-650477" y="331843"/>
            <a:chExt cx="13388049" cy="603260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E2224F3-60C3-4340-9D94-7AAF4297A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-160754" y="5462747"/>
              <a:ext cx="2273300" cy="9017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20A9663-6F1A-1447-9C0F-5CA780AF8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2098032" y="5462747"/>
              <a:ext cx="2273300" cy="9017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F6DAF06-57D4-9D4E-B320-3956C83F5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4267069" y="5462747"/>
              <a:ext cx="2273300" cy="9017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C1CA6B0-3DFC-1E4B-8C9E-C5BD8CB56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6525855" y="5462747"/>
              <a:ext cx="2273300" cy="9017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F419500-1687-E849-9204-8187BFA6A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8534092" y="5462747"/>
              <a:ext cx="2273300" cy="9017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DD8EF68-11D7-7F4C-9636-846DF5663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-435263" y="3686472"/>
              <a:ext cx="2273300" cy="9017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1D3C8F5-7EDA-C340-9F63-6CEDFD1C0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823523" y="3686472"/>
              <a:ext cx="2273300" cy="901700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2E0AC9F-097F-6845-A30F-753B5B1C8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3992560" y="3686472"/>
              <a:ext cx="2273300" cy="9017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A1D2FE1-ED2F-AE48-8DED-11F7C3FBD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6251346" y="3686472"/>
              <a:ext cx="2273300" cy="9017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0228AC57-9B53-E647-A950-F36804BA0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8259583" y="3686472"/>
              <a:ext cx="2273300" cy="9017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E4B141A-61FF-7347-B16F-8C93F284F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-637887" y="2005475"/>
              <a:ext cx="2273300" cy="9017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E06F587-7444-F940-A787-F49ACB58F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620899" y="2005475"/>
              <a:ext cx="2273300" cy="90170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7602291-266E-564C-A732-07034AC80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3789936" y="2005475"/>
              <a:ext cx="2273300" cy="90170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A77DFC0-1EB3-E341-BEB8-51B445BE0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6048722" y="2005475"/>
              <a:ext cx="2273300" cy="90170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689F2AD1-DBE6-BF41-A103-4AF7BB9E5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8056959" y="2005475"/>
              <a:ext cx="2273300" cy="9017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67E769C-F1D5-0A45-96C7-747DB7BBF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-650477" y="482504"/>
              <a:ext cx="2273300" cy="9017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37058DC-A542-2E4E-B1EC-0445CA8A0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608309" y="482504"/>
              <a:ext cx="2273300" cy="9017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8B966FA5-6F25-DB40-BA93-EA1A0DC46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3777346" y="482504"/>
              <a:ext cx="2273300" cy="90170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FEA2E6D-3E87-A949-B1B2-2FBCB769D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6036132" y="482504"/>
              <a:ext cx="2273300" cy="90170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C103FA54-6D70-7D40-9B1D-F97551023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8044369" y="482504"/>
              <a:ext cx="2273300" cy="901700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13ABF69F-87D0-CD46-864D-8B4C8F726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0464272" y="5314755"/>
              <a:ext cx="2273300" cy="901700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03A430E2-BE82-F848-A257-18C8559DA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0186075" y="1907561"/>
              <a:ext cx="2273300" cy="901700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800944B-E7EE-4E43-A652-4618816B8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10331310" y="3760468"/>
              <a:ext cx="2273300" cy="901700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B110BF4-1B20-4F49-9E06-29846EE82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2000"/>
            </a:blip>
            <a:stretch>
              <a:fillRect/>
            </a:stretch>
          </p:blipFill>
          <p:spPr>
            <a:xfrm rot="1800000">
              <a:off x="9836285" y="331843"/>
              <a:ext cx="2273300" cy="901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613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hyperlink" Target="https://prod.huohuaschool.com/store/detail.html?id=085d041b-296e-4845-8a3a-52d5bf9629cf&amp;type=component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090" y="490652"/>
            <a:ext cx="1413315" cy="43861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E5D62AD-A2ED-004F-8804-0ADED5BE9ACD}"/>
              </a:ext>
            </a:extLst>
          </p:cNvPr>
          <p:cNvSpPr txBox="1"/>
          <p:nvPr/>
        </p:nvSpPr>
        <p:spPr>
          <a:xfrm>
            <a:off x="5102094" y="3085037"/>
            <a:ext cx="21595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讲师：火花学院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0D8D33-77D8-284D-8618-06F2ADAED18C}"/>
              </a:ext>
            </a:extLst>
          </p:cNvPr>
          <p:cNvSpPr/>
          <p:nvPr/>
        </p:nvSpPr>
        <p:spPr>
          <a:xfrm>
            <a:off x="741454" y="2262061"/>
            <a:ext cx="108808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42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课题二</a:t>
            </a:r>
            <a:r>
              <a:rPr kumimoji="1" lang="en-US" altLang="zh-CN" sz="42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   </a:t>
            </a:r>
            <a:r>
              <a:rPr kumimoji="1" lang="zh-CN" altLang="en-US" sz="42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二氧化碳制取的研究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C1D86C-B718-EE44-B89E-9DDF55EB6C5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"/>
          </a:blip>
          <a:stretch>
            <a:fillRect/>
          </a:stretch>
        </p:blipFill>
        <p:spPr>
          <a:xfrm flipH="1">
            <a:off x="7988250" y="-1402510"/>
            <a:ext cx="7696269" cy="8260510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5D1D8A6-98FC-4ED1-88EB-E3CAE6EE108F}"/>
              </a:ext>
            </a:extLst>
          </p:cNvPr>
          <p:cNvGrpSpPr/>
          <p:nvPr/>
        </p:nvGrpSpPr>
        <p:grpSpPr>
          <a:xfrm>
            <a:off x="371061" y="505912"/>
            <a:ext cx="2687728" cy="846710"/>
            <a:chOff x="371061" y="505912"/>
            <a:chExt cx="2687728" cy="84671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02CD172-7383-4FDE-8D9F-8F39F1F85A58}"/>
                </a:ext>
              </a:extLst>
            </p:cNvPr>
            <p:cNvGrpSpPr/>
            <p:nvPr/>
          </p:nvGrpSpPr>
          <p:grpSpPr>
            <a:xfrm>
              <a:off x="371061" y="505912"/>
              <a:ext cx="2687728" cy="846710"/>
              <a:chOff x="5064921" y="1821391"/>
              <a:chExt cx="2687728" cy="846710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20C1AF9-3424-4E82-A020-874152D75654}"/>
                  </a:ext>
                </a:extLst>
              </p:cNvPr>
              <p:cNvSpPr txBox="1"/>
              <p:nvPr/>
            </p:nvSpPr>
            <p:spPr>
              <a:xfrm>
                <a:off x="5064921" y="1821391"/>
                <a:ext cx="1112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bg1"/>
                    </a:solidFill>
                    <a:latin typeface="Microsoft YaHei Light" panose="020B0502040204020203" pitchFamily="34" charset="-122"/>
                    <a:ea typeface="Microsoft YaHei Light" panose="020B0502040204020203" pitchFamily="34" charset="-122"/>
                  </a:rPr>
                  <a:t>第六单元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FD1B385-5406-4C1E-8772-A1FEF4822BE5}"/>
                  </a:ext>
                </a:extLst>
              </p:cNvPr>
              <p:cNvSpPr txBox="1"/>
              <p:nvPr/>
            </p:nvSpPr>
            <p:spPr>
              <a:xfrm>
                <a:off x="5078878" y="2483435"/>
                <a:ext cx="267377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600" spc="350" dirty="0">
                    <a:solidFill>
                      <a:schemeClr val="bg1"/>
                    </a:solidFill>
                    <a:latin typeface="Microsoft YaHei Light" charset="-122"/>
                    <a:ea typeface="Microsoft YaHei Light" charset="-122"/>
                    <a:cs typeface="Microsoft YaHei Light" charset="-122"/>
                  </a:rPr>
                  <a:t>CARBON AND CARBON OXIDES</a:t>
                </a:r>
              </a:p>
            </p:txBody>
          </p:sp>
        </p:grp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DE3625A-E38C-4D89-8988-CA472441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692" y="893367"/>
              <a:ext cx="2483982" cy="213252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8FA7170-0D02-784E-9F68-FE2538F7E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92" y="3397943"/>
            <a:ext cx="4572000" cy="3238500"/>
          </a:xfrm>
          <a:prstGeom prst="rect">
            <a:avLst/>
          </a:prstGeom>
          <a:effectLst>
            <a:glow rad="38100">
              <a:schemeClr val="accent3">
                <a:satMod val="175000"/>
                <a:alpha val="38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4835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BA18EA-C2A0-0B4A-89A8-ADA42B0440C9}"/>
              </a:ext>
            </a:extLst>
          </p:cNvPr>
          <p:cNvGrpSpPr/>
          <p:nvPr/>
        </p:nvGrpSpPr>
        <p:grpSpPr>
          <a:xfrm>
            <a:off x="1427917" y="1795490"/>
            <a:ext cx="9492624" cy="461665"/>
            <a:chOff x="3430300" y="1909342"/>
            <a:chExt cx="9492624" cy="46166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1A9E301-BD8A-4049-BD20-C45B0B6A0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0300" y="1909342"/>
              <a:ext cx="382060" cy="38206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CFF46AB-C826-B040-B5FE-30015A0B8B08}"/>
                </a:ext>
              </a:extLst>
            </p:cNvPr>
            <p:cNvSpPr txBox="1"/>
            <p:nvPr/>
          </p:nvSpPr>
          <p:spPr>
            <a:xfrm>
              <a:off x="3994406" y="1909342"/>
              <a:ext cx="8928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Himalaya" pitchFamily="2" charset="0"/>
                </a:rPr>
                <a:t>了解实验室制取二氧化碳的化学反应原理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6E61D6BC-EA50-6F44-9E4A-949F2DCE4F00}"/>
              </a:ext>
            </a:extLst>
          </p:cNvPr>
          <p:cNvSpPr txBox="1"/>
          <p:nvPr/>
        </p:nvSpPr>
        <p:spPr>
          <a:xfrm>
            <a:off x="605302" y="3101806"/>
            <a:ext cx="400110" cy="24837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" altLang="zh-CN"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三极准柔宋" panose="00000500000000000000" pitchFamily="2" charset="-122"/>
              </a:rPr>
              <a:t>Learning objectives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三极准柔宋" panose="00000500000000000000" pitchFamily="2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6CED8C9-EF62-7E48-AADB-B3BA881F4B6D}"/>
              </a:ext>
            </a:extLst>
          </p:cNvPr>
          <p:cNvSpPr/>
          <p:nvPr/>
        </p:nvSpPr>
        <p:spPr>
          <a:xfrm>
            <a:off x="708144" y="5980855"/>
            <a:ext cx="219918" cy="2199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78900BD-591E-114D-B7D9-B84410EF8C44}"/>
              </a:ext>
            </a:extLst>
          </p:cNvPr>
          <p:cNvSpPr/>
          <p:nvPr/>
        </p:nvSpPr>
        <p:spPr>
          <a:xfrm>
            <a:off x="708144" y="2548234"/>
            <a:ext cx="219918" cy="2199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三极准柔宋" panose="00000500000000000000" pitchFamily="2" charset="-122"/>
              <a:ea typeface="三极准柔宋" panose="00000500000000000000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B0C5D10-6E48-B741-AFB5-8F42644F242B}"/>
              </a:ext>
            </a:extLst>
          </p:cNvPr>
          <p:cNvGrpSpPr/>
          <p:nvPr/>
        </p:nvGrpSpPr>
        <p:grpSpPr>
          <a:xfrm>
            <a:off x="2934092" y="2598109"/>
            <a:ext cx="6065687" cy="461665"/>
            <a:chOff x="6963709" y="2442391"/>
            <a:chExt cx="6056009" cy="461665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175B4D5-A646-4F4D-B6EA-44452A910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709" y="2475830"/>
              <a:ext cx="382060" cy="382060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1A5EC61-4336-C541-A47F-00ED9C2E9790}"/>
                </a:ext>
              </a:extLst>
            </p:cNvPr>
            <p:cNvSpPr txBox="1"/>
            <p:nvPr/>
          </p:nvSpPr>
          <p:spPr>
            <a:xfrm>
              <a:off x="7513190" y="2442391"/>
              <a:ext cx="55065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sz="240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Himalaya" pitchFamily="2" charset="0"/>
                </a:defRPr>
              </a:lvl1pPr>
            </a:lstStyle>
            <a:p>
              <a:r>
                <a:rPr lang="zh-CN" altLang="en-US" dirty="0"/>
                <a:t>探究实验室里制取二氧化碳的装置</a:t>
              </a:r>
            </a:p>
          </p:txBody>
        </p:sp>
      </p:grp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075995B-0B20-AC48-8926-DD1612C062E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zh-CN" altLang="en-US" dirty="0"/>
              <a:t>学习目标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169D6A-199C-3C42-AA93-E3C6303F4919}"/>
              </a:ext>
            </a:extLst>
          </p:cNvPr>
          <p:cNvGrpSpPr/>
          <p:nvPr/>
        </p:nvGrpSpPr>
        <p:grpSpPr>
          <a:xfrm>
            <a:off x="5475731" y="3795781"/>
            <a:ext cx="3642869" cy="830997"/>
            <a:chOff x="5475731" y="3795781"/>
            <a:chExt cx="3642869" cy="830997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04EAE7C-5B52-7C47-B4FF-22BB14B2CCC5}"/>
                </a:ext>
              </a:extLst>
            </p:cNvPr>
            <p:cNvSpPr txBox="1"/>
            <p:nvPr/>
          </p:nvSpPr>
          <p:spPr>
            <a:xfrm>
              <a:off x="5942920" y="3795781"/>
              <a:ext cx="3175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sz="240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Himalaya" pitchFamily="2" charset="0"/>
                </a:defRPr>
              </a:lvl1pPr>
            </a:lstStyle>
            <a:p>
              <a:r>
                <a:rPr lang="zh-CN" altLang="en-US" dirty="0"/>
                <a:t>了解实验室里制取气体的一般思路和方法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1A75D53-376A-7A45-8420-333F4F4A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5731" y="3829219"/>
              <a:ext cx="382671" cy="3820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968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BFEA1C90-6448-2741-8DC6-8D7F219D8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597"/>
            <a:ext cx="12432612" cy="69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8BB0B5-46F7-084D-BA6E-91C7E8C32A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4267443" cy="639763"/>
          </a:xfrm>
        </p:spPr>
        <p:txBody>
          <a:bodyPr/>
          <a:lstStyle/>
          <a:p>
            <a:r>
              <a:rPr lang="zh-CN" altLang="en-US" dirty="0"/>
              <a:t>思考与交流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172A1F-C03D-3644-9C07-81DF04A607CC}"/>
              </a:ext>
            </a:extLst>
          </p:cNvPr>
          <p:cNvGrpSpPr/>
          <p:nvPr/>
        </p:nvGrpSpPr>
        <p:grpSpPr>
          <a:xfrm>
            <a:off x="-199769" y="1470708"/>
            <a:ext cx="10274884" cy="978120"/>
            <a:chOff x="-199769" y="1470708"/>
            <a:chExt cx="10274884" cy="978120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0C07A0FA-BB44-6C40-843B-D143DA68DF19}"/>
                </a:ext>
              </a:extLst>
            </p:cNvPr>
            <p:cNvSpPr/>
            <p:nvPr/>
          </p:nvSpPr>
          <p:spPr>
            <a:xfrm>
              <a:off x="2307680" y="1470708"/>
              <a:ext cx="7767435" cy="978120"/>
            </a:xfrm>
            <a:prstGeom prst="roundRect">
              <a:avLst/>
            </a:prstGeom>
            <a:solidFill>
              <a:schemeClr val="bg1">
                <a:lumMod val="65000"/>
                <a:alpha val="30000"/>
              </a:schemeClr>
            </a:solidFill>
          </p:spPr>
          <p:txBody>
            <a:bodyPr rot="0" spcFirstLastPara="0" vertOverflow="overflow" horzOverflow="overflow" vert="horz" wrap="square" lIns="324000" tIns="36000" rIns="91440" bIns="108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我们学过的能够生成二氧化碳的化学反应有哪些？</a:t>
              </a:r>
            </a:p>
            <a:p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这些反应都能用来实验室制取二氧化碳吗？为什么？</a:t>
              </a:r>
            </a:p>
          </p:txBody>
        </p:sp>
        <p:cxnSp>
          <p:nvCxnSpPr>
            <p:cNvPr id="17" name="直接连接符 42">
              <a:extLst>
                <a:ext uri="{FF2B5EF4-FFF2-40B4-BE49-F238E27FC236}">
                  <a16:creationId xmlns:a16="http://schemas.microsoft.com/office/drawing/2014/main" id="{054B0D30-DBA4-BB41-85B5-194A3A84BD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99769" y="1766815"/>
              <a:ext cx="2641999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56C92FE-A396-E841-A286-C64167FF518B}"/>
              </a:ext>
            </a:extLst>
          </p:cNvPr>
          <p:cNvGrpSpPr/>
          <p:nvPr/>
        </p:nvGrpSpPr>
        <p:grpSpPr>
          <a:xfrm>
            <a:off x="5730239" y="2958178"/>
            <a:ext cx="3566311" cy="3199990"/>
            <a:chOff x="5730239" y="2958178"/>
            <a:chExt cx="3566311" cy="3199990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BF935EC5-3CEC-A14A-A5A5-B5074A8E4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0239" y="2958178"/>
              <a:ext cx="3566311" cy="2378730"/>
            </a:xfrm>
            <a:prstGeom prst="roundRect">
              <a:avLst>
                <a:gd name="adj" fmla="val 4167"/>
              </a:avLst>
            </a:prstGeom>
            <a:noFill/>
            <a:ln w="69850" cap="sq">
              <a:solidFill>
                <a:schemeClr val="bg1">
                  <a:lumMod val="95000"/>
                </a:schemeClr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2E380D5C-DAD1-8D4A-8A1C-2BEE05467285}"/>
                </a:ext>
              </a:extLst>
            </p:cNvPr>
            <p:cNvSpPr/>
            <p:nvPr/>
          </p:nvSpPr>
          <p:spPr>
            <a:xfrm>
              <a:off x="6705739" y="5473438"/>
              <a:ext cx="1615310" cy="684730"/>
            </a:xfrm>
            <a:prstGeom prst="roundRect">
              <a:avLst>
                <a:gd name="adj" fmla="val 32177"/>
              </a:avLst>
            </a:prstGeom>
            <a:noFill/>
          </p:spPr>
          <p:txBody>
  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木炭燃烧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326BB4C-4F38-2D4C-9A5E-C9474D789F2B}"/>
              </a:ext>
            </a:extLst>
          </p:cNvPr>
          <p:cNvGrpSpPr/>
          <p:nvPr/>
        </p:nvGrpSpPr>
        <p:grpSpPr>
          <a:xfrm>
            <a:off x="2442230" y="2977899"/>
            <a:ext cx="2830810" cy="3180269"/>
            <a:chOff x="2442230" y="2977899"/>
            <a:chExt cx="2830810" cy="3180269"/>
          </a:xfrm>
        </p:grpSpPr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60D1DC96-031E-1842-B9B5-F59C3F845C5D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2230" y="2977899"/>
              <a:ext cx="2830810" cy="2359009"/>
            </a:xfrm>
            <a:prstGeom prst="roundRect">
              <a:avLst>
                <a:gd name="adj" fmla="val 4167"/>
              </a:avLst>
            </a:prstGeom>
            <a:noFill/>
            <a:ln w="69850" cap="sq">
              <a:solidFill>
                <a:schemeClr val="bg1">
                  <a:lumMod val="95000"/>
                </a:schemeClr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FEC550E2-8281-554B-BB2B-A96F4BF674AD}"/>
                </a:ext>
              </a:extLst>
            </p:cNvPr>
            <p:cNvSpPr/>
            <p:nvPr/>
          </p:nvSpPr>
          <p:spPr>
            <a:xfrm>
              <a:off x="3049980" y="5473438"/>
              <a:ext cx="1615310" cy="684730"/>
            </a:xfrm>
            <a:prstGeom prst="roundRect">
              <a:avLst>
                <a:gd name="adj" fmla="val 32177"/>
              </a:avLst>
            </a:prstGeom>
            <a:noFill/>
          </p:spPr>
          <p:txBody>
  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蜡烛燃烧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86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18485AC-80FF-8947-93DF-62E38BD25A48}"/>
              </a:ext>
            </a:extLst>
          </p:cNvPr>
          <p:cNvGrpSpPr/>
          <p:nvPr/>
        </p:nvGrpSpPr>
        <p:grpSpPr>
          <a:xfrm>
            <a:off x="2159317" y="1440613"/>
            <a:ext cx="2527300" cy="4178300"/>
            <a:chOff x="1814830" y="1807210"/>
            <a:chExt cx="2527300" cy="41783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51883E6-4CAA-2C41-B362-41E405E5E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4830" y="1807210"/>
              <a:ext cx="2527300" cy="4178300"/>
            </a:xfrm>
            <a:prstGeom prst="roundRect">
              <a:avLst>
                <a:gd name="adj" fmla="val 41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0D6BBEF-C183-F344-893B-E7344B65AB69}"/>
                </a:ext>
              </a:extLst>
            </p:cNvPr>
            <p:cNvSpPr txBox="1"/>
            <p:nvPr/>
          </p:nvSpPr>
          <p:spPr>
            <a:xfrm>
              <a:off x="2458119" y="5419499"/>
              <a:ext cx="1094227" cy="50706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00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人呼吸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7D5ED5D3-F282-E240-A190-F1CD7AA69D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10742589" y="-2296114"/>
            <a:ext cx="3894543" cy="38883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328FE60-F66F-6A48-B5BD-01A7E0CF71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9546464" y="470400"/>
            <a:ext cx="368196" cy="36760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CD8FCE2-6343-0B4F-B683-8A1D10227618}"/>
              </a:ext>
            </a:extLst>
          </p:cNvPr>
          <p:cNvGrpSpPr/>
          <p:nvPr/>
        </p:nvGrpSpPr>
        <p:grpSpPr>
          <a:xfrm>
            <a:off x="5669280" y="1849554"/>
            <a:ext cx="4856480" cy="3769359"/>
            <a:chOff x="5669280" y="1849554"/>
            <a:chExt cx="4856480" cy="3769359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BF16064-571C-AB47-94DD-6F81233B6068}"/>
                </a:ext>
              </a:extLst>
            </p:cNvPr>
            <p:cNvGrpSpPr/>
            <p:nvPr/>
          </p:nvGrpSpPr>
          <p:grpSpPr>
            <a:xfrm>
              <a:off x="5669280" y="1849554"/>
              <a:ext cx="4856480" cy="3769359"/>
              <a:chOff x="5770880" y="1899920"/>
              <a:chExt cx="4856480" cy="3769359"/>
            </a:xfrm>
          </p:grpSpPr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02BE9619-9F33-254D-9E64-8E479E00D3C5}"/>
                  </a:ext>
                </a:extLst>
              </p:cNvPr>
              <p:cNvSpPr/>
              <p:nvPr/>
            </p:nvSpPr>
            <p:spPr>
              <a:xfrm>
                <a:off x="5770880" y="1899920"/>
                <a:ext cx="4856480" cy="3769359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74F4CB0-D11D-F94B-B26B-BC1A2DD34D25}"/>
                  </a:ext>
                </a:extLst>
              </p:cNvPr>
              <p:cNvSpPr txBox="1"/>
              <p:nvPr/>
            </p:nvSpPr>
            <p:spPr>
              <a:xfrm>
                <a:off x="6980683" y="5104048"/>
                <a:ext cx="2436874" cy="49956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碳还原氧化铜</a:t>
                </a:r>
              </a:p>
            </p:txBody>
          </p:sp>
        </p:grp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D8EDCCA-C84D-3D47-AC1C-70DDEAC4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2605" y="2347572"/>
              <a:ext cx="3881301" cy="26404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047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47EBE9-264D-5740-85B2-0CEE0A2844C6}"/>
              </a:ext>
            </a:extLst>
          </p:cNvPr>
          <p:cNvSpPr txBox="1"/>
          <p:nvPr/>
        </p:nvSpPr>
        <p:spPr>
          <a:xfrm>
            <a:off x="2574861" y="2291406"/>
            <a:ext cx="7877822" cy="160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较易反应、反应速度适中、生成的气体纯净、易于收集、操作简便、原料廉价、易得等。</a:t>
            </a:r>
          </a:p>
          <a:p>
            <a:pPr algn="l">
              <a:lnSpc>
                <a:spcPct val="150000"/>
              </a:lnSpc>
            </a:pPr>
            <a:endParaRPr kumimoji="1" lang="zh-CN" altLang="en-US" sz="2000" dirty="0" err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5A63C82-7314-4441-895A-4BA81CB53283}"/>
              </a:ext>
            </a:extLst>
          </p:cNvPr>
          <p:cNvGrpSpPr/>
          <p:nvPr/>
        </p:nvGrpSpPr>
        <p:grpSpPr>
          <a:xfrm>
            <a:off x="-491548" y="1747734"/>
            <a:ext cx="7867723" cy="461665"/>
            <a:chOff x="-567049" y="1965848"/>
            <a:chExt cx="7867723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392A299-63A5-C14F-A4B5-C29C09F0A8CA}"/>
                </a:ext>
              </a:extLst>
            </p:cNvPr>
            <p:cNvSpPr txBox="1"/>
            <p:nvPr/>
          </p:nvSpPr>
          <p:spPr>
            <a:xfrm>
              <a:off x="2499360" y="1965848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选择制取气体时药品的一般原则：</a:t>
              </a:r>
            </a:p>
          </p:txBody>
        </p:sp>
        <p:cxnSp>
          <p:nvCxnSpPr>
            <p:cNvPr id="5" name="直接连接符 42">
              <a:extLst>
                <a:ext uri="{FF2B5EF4-FFF2-40B4-BE49-F238E27FC236}">
                  <a16:creationId xmlns:a16="http://schemas.microsoft.com/office/drawing/2014/main" id="{F614DF95-23DA-0A44-8C2B-21992BF77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67049" y="2151023"/>
              <a:ext cx="2871329" cy="0"/>
            </a:xfrm>
            <a:prstGeom prst="line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717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F51EDE-F12B-8443-88A4-906E82C2C2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791488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一、探究制取二氧化碳的药品及反应原理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EF8A5-F7BA-9748-9477-60E54A158B67}"/>
              </a:ext>
            </a:extLst>
          </p:cNvPr>
          <p:cNvSpPr txBox="1"/>
          <p:nvPr/>
        </p:nvSpPr>
        <p:spPr>
          <a:xfrm>
            <a:off x="883676" y="2968506"/>
            <a:ext cx="4104884" cy="234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碳酸根离子的化合物（例如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Na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aseline="-25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、大理石或石灰石的主要成分是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CaCO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）能与稀盐酸（</a:t>
            </a:r>
            <a:r>
              <a:rPr kumimoji="1"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HCl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）或稀硫酸（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）在常温下反应生成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气体。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A8DDEE-B76F-6544-B719-F7E0CAFEC4D8}"/>
              </a:ext>
            </a:extLst>
          </p:cNvPr>
          <p:cNvSpPr txBox="1"/>
          <p:nvPr/>
        </p:nvSpPr>
        <p:spPr>
          <a:xfrm>
            <a:off x="883676" y="2599174"/>
            <a:ext cx="1836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资料信息：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B06EA0F-196D-4249-9102-D7B1018CA250}"/>
              </a:ext>
            </a:extLst>
          </p:cNvPr>
          <p:cNvGrpSpPr/>
          <p:nvPr/>
        </p:nvGrpSpPr>
        <p:grpSpPr>
          <a:xfrm>
            <a:off x="5515948" y="2599174"/>
            <a:ext cx="4887893" cy="3161696"/>
            <a:chOff x="5515948" y="2599174"/>
            <a:chExt cx="4887893" cy="316169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35B7581-56D9-1143-A18C-48DBD14E8959}"/>
                </a:ext>
              </a:extLst>
            </p:cNvPr>
            <p:cNvSpPr/>
            <p:nvPr/>
          </p:nvSpPr>
          <p:spPr>
            <a:xfrm>
              <a:off x="5515949" y="2953883"/>
              <a:ext cx="4887892" cy="2806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+ 2HCl       2NaCl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  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Na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 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+ 2HCl        CaCl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  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CaSO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  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NaCl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CaCl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易溶于水、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CaSO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2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微溶于水</a:t>
              </a:r>
            </a:p>
            <a:p>
              <a:pPr>
                <a:lnSpc>
                  <a:spcPct val="150000"/>
                </a:lnSpc>
              </a:pP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D32B4E8-F7D2-2346-8594-2A05C28EEDD6}"/>
                </a:ext>
              </a:extLst>
            </p:cNvPr>
            <p:cNvSpPr txBox="1"/>
            <p:nvPr/>
          </p:nvSpPr>
          <p:spPr>
            <a:xfrm>
              <a:off x="5515948" y="259917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原理：</a:t>
              </a:r>
              <a:endPara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612F263-07B7-4F77-B38A-90BA29BA41DA}"/>
                </a:ext>
              </a:extLst>
            </p:cNvPr>
            <p:cNvCxnSpPr/>
            <p:nvPr/>
          </p:nvCxnSpPr>
          <p:spPr>
            <a:xfrm>
              <a:off x="7410276" y="3682767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74C333D-09F5-4A27-80D4-8120E37ECC1E}"/>
                </a:ext>
              </a:extLst>
            </p:cNvPr>
            <p:cNvCxnSpPr/>
            <p:nvPr/>
          </p:nvCxnSpPr>
          <p:spPr>
            <a:xfrm>
              <a:off x="7410276" y="3751277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AC32DF1-3513-467F-8F8D-C0C74EE5F311}"/>
                </a:ext>
              </a:extLst>
            </p:cNvPr>
            <p:cNvCxnSpPr/>
            <p:nvPr/>
          </p:nvCxnSpPr>
          <p:spPr>
            <a:xfrm>
              <a:off x="7312311" y="4605206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B5BF4B2-B6C3-44F5-A800-177488B046E3}"/>
                </a:ext>
              </a:extLst>
            </p:cNvPr>
            <p:cNvCxnSpPr/>
            <p:nvPr/>
          </p:nvCxnSpPr>
          <p:spPr>
            <a:xfrm>
              <a:off x="7312311" y="4673716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FF117FF-22F7-4D65-9E8E-03338B2B4563}"/>
                </a:ext>
              </a:extLst>
            </p:cNvPr>
            <p:cNvCxnSpPr/>
            <p:nvPr/>
          </p:nvCxnSpPr>
          <p:spPr>
            <a:xfrm>
              <a:off x="7312311" y="3231159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D82661-49A8-4371-B2CD-577E20103407}"/>
                </a:ext>
              </a:extLst>
            </p:cNvPr>
            <p:cNvCxnSpPr/>
            <p:nvPr/>
          </p:nvCxnSpPr>
          <p:spPr>
            <a:xfrm>
              <a:off x="7312311" y="3299669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2E96616-6D13-4F44-965D-3EE2BF273D33}"/>
                </a:ext>
              </a:extLst>
            </p:cNvPr>
            <p:cNvCxnSpPr/>
            <p:nvPr/>
          </p:nvCxnSpPr>
          <p:spPr>
            <a:xfrm>
              <a:off x="7225718" y="4130179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756ACCC-ECBF-4928-BCF5-665F5C749CF5}"/>
                </a:ext>
              </a:extLst>
            </p:cNvPr>
            <p:cNvCxnSpPr/>
            <p:nvPr/>
          </p:nvCxnSpPr>
          <p:spPr>
            <a:xfrm>
              <a:off x="7225718" y="4198689"/>
              <a:ext cx="302004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42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F51EDE-F12B-8443-88A4-906E82C2C2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791488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一、探究制取二氧化碳的药品及反应原理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E2BF47-5B5E-3840-92FD-40AE65E97FC5}"/>
              </a:ext>
            </a:extLst>
          </p:cNvPr>
          <p:cNvSpPr/>
          <p:nvPr/>
        </p:nvSpPr>
        <p:spPr>
          <a:xfrm>
            <a:off x="1314799" y="1486931"/>
            <a:ext cx="9012049" cy="54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上述四个反应都能产生二氧化碳，都适合用来实验室制取二氧化碳吗？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F0F022F-AA8D-4249-A4D7-0CB506E4F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112088"/>
              </p:ext>
            </p:extLst>
          </p:nvPr>
        </p:nvGraphicFramePr>
        <p:xfrm>
          <a:off x="1386568" y="2346402"/>
          <a:ext cx="8712472" cy="282846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4038872">
                  <a:extLst>
                    <a:ext uri="{9D8B030D-6E8A-4147-A177-3AD203B41FA5}">
                      <a16:colId xmlns:a16="http://schemas.microsoft.com/office/drawing/2014/main" val="524847040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53047699"/>
                    </a:ext>
                  </a:extLst>
                </a:gridCol>
              </a:tblGrid>
              <a:tr h="7195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现象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509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碳酸钠和稀盐酸反应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大量气泡，反应很快</a:t>
                      </a: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44301"/>
                  </a:ext>
                </a:extLst>
              </a:tr>
              <a:tr h="5201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碳酸钠和稀硫酸反应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大量气泡，反应很快</a:t>
                      </a: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90183"/>
                  </a:ext>
                </a:extLst>
              </a:tr>
              <a:tr h="5201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大理石和稀盐酸反应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大量气泡，反应速度适中</a:t>
                      </a: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30750"/>
                  </a:ext>
                </a:extLst>
              </a:tr>
              <a:tr h="5201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大理石和稀硫酸反应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少量气泡，反应一会儿就停止</a:t>
                      </a: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821755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7DE6BAAB-B8B7-CD40-ADED-1F78FAD18D60}"/>
              </a:ext>
            </a:extLst>
          </p:cNvPr>
          <p:cNvSpPr/>
          <p:nvPr/>
        </p:nvSpPr>
        <p:spPr>
          <a:xfrm>
            <a:off x="1105074" y="5493992"/>
            <a:ext cx="9431498" cy="647812"/>
          </a:xfrm>
          <a:prstGeom prst="roundRect">
            <a:avLst>
              <a:gd name="adj" fmla="val 32177"/>
            </a:avLst>
          </a:prstGeom>
          <a:solidFill>
            <a:schemeClr val="bg1">
              <a:lumMod val="65000"/>
              <a:alpha val="30000"/>
            </a:schemeClr>
          </a:solidFill>
        </p:spPr>
        <p:txBody>
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结论：实验室制取二氧化碳最理想的药品是大理石（或石灰石）和稀盐酸。</a:t>
            </a:r>
          </a:p>
        </p:txBody>
      </p:sp>
    </p:spTree>
    <p:extLst>
      <p:ext uri="{BB962C8B-B14F-4D97-AF65-F5344CB8AC3E}">
        <p14:creationId xmlns:p14="http://schemas.microsoft.com/office/powerpoint/2010/main" val="322928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B05C7E-757E-9944-940E-FF866B740CF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 dirty="0"/>
              <a:t>思考与交流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0DF12A-035E-3645-9314-D9430F2C6D22}"/>
              </a:ext>
            </a:extLst>
          </p:cNvPr>
          <p:cNvSpPr/>
          <p:nvPr/>
        </p:nvSpPr>
        <p:spPr>
          <a:xfrm>
            <a:off x="1984711" y="1319780"/>
            <a:ext cx="7710570" cy="409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实验室制取二氧化碳能不能用浓盐酸代替稀盐酸？</a:t>
            </a: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为什么不用稀硫酸和大理石反应制二氧化碳？</a:t>
            </a: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为什么不用碳酸钠制二氧化碳</a:t>
            </a: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endParaRPr lang="zh-CN" altLang="en-US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C398159-1B05-1A40-A189-2EED21DA5F83}"/>
              </a:ext>
            </a:extLst>
          </p:cNvPr>
          <p:cNvSpPr/>
          <p:nvPr/>
        </p:nvSpPr>
        <p:spPr>
          <a:xfrm>
            <a:off x="2323775" y="2048737"/>
            <a:ext cx="8960362" cy="647577"/>
          </a:xfrm>
          <a:prstGeom prst="roundRect">
            <a:avLst>
              <a:gd name="adj" fmla="val 32177"/>
            </a:avLst>
          </a:prstGeom>
          <a:solidFill>
            <a:schemeClr val="bg1">
              <a:lumMod val="65000"/>
              <a:alpha val="30000"/>
            </a:schemeClr>
          </a:solidFill>
        </p:spPr>
        <p:txBody>
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不能，因为浓盐酸具有挥发性，能挥发出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HCl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气体，使收集的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</a:t>
            </a:r>
            <a:r>
              <a:rPr lang="zh-CN" altLang="en-US" sz="22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不纯。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05C9FB0-22C4-A748-9136-EAD46DDB3901}"/>
              </a:ext>
            </a:extLst>
          </p:cNvPr>
          <p:cNvSpPr/>
          <p:nvPr/>
        </p:nvSpPr>
        <p:spPr>
          <a:xfrm>
            <a:off x="2302995" y="3500532"/>
            <a:ext cx="8981142" cy="1165139"/>
          </a:xfrm>
          <a:prstGeom prst="roundRect">
            <a:avLst>
              <a:gd name="adj" fmla="val 32177"/>
            </a:avLst>
          </a:prstGeom>
          <a:solidFill>
            <a:schemeClr val="bg1">
              <a:lumMod val="65000"/>
              <a:alpha val="30000"/>
            </a:schemeClr>
          </a:solidFill>
        </p:spPr>
        <p:txBody>
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因为稀硫酸与大理石反应生成微溶于水的硫酸钙，覆盖在大理石表面，阻止了大理石与稀硫酸继续反应。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75D536C-E06A-9547-B35E-1A37A7643D16}"/>
              </a:ext>
            </a:extLst>
          </p:cNvPr>
          <p:cNvSpPr/>
          <p:nvPr/>
        </p:nvSpPr>
        <p:spPr>
          <a:xfrm>
            <a:off x="2323775" y="5469890"/>
            <a:ext cx="8960362" cy="647812"/>
          </a:xfrm>
          <a:prstGeom prst="roundRect">
            <a:avLst>
              <a:gd name="adj" fmla="val 32177"/>
            </a:avLst>
          </a:prstGeom>
          <a:solidFill>
            <a:schemeClr val="bg1">
              <a:lumMod val="65000"/>
              <a:alpha val="30000"/>
            </a:schemeClr>
          </a:solidFill>
        </p:spPr>
        <p:txBody>
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因为碳酸钠与稀盐酸反应时，速度过快，不利于气体收集。</a:t>
            </a:r>
          </a:p>
        </p:txBody>
      </p:sp>
    </p:spTree>
    <p:extLst>
      <p:ext uri="{BB962C8B-B14F-4D97-AF65-F5344CB8AC3E}">
        <p14:creationId xmlns:p14="http://schemas.microsoft.com/office/powerpoint/2010/main" val="399035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FA35C52-0B0C-CA43-BBF4-EA0506D92E4A}"/>
              </a:ext>
            </a:extLst>
          </p:cNvPr>
          <p:cNvSpPr/>
          <p:nvPr/>
        </p:nvSpPr>
        <p:spPr>
          <a:xfrm>
            <a:off x="2639922" y="1841973"/>
            <a:ext cx="5835941" cy="71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药品：大理石（或石灰石）和稀盐酸。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CE8EA3D-C96F-B441-954B-020479565B2C}"/>
              </a:ext>
            </a:extLst>
          </p:cNvPr>
          <p:cNvGrpSpPr/>
          <p:nvPr/>
        </p:nvGrpSpPr>
        <p:grpSpPr>
          <a:xfrm>
            <a:off x="2642109" y="2753812"/>
            <a:ext cx="6532721" cy="732444"/>
            <a:chOff x="2327149" y="3348565"/>
            <a:chExt cx="6532721" cy="73244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D83A710-F009-1D42-B3CC-C6348924B962}"/>
                </a:ext>
              </a:extLst>
            </p:cNvPr>
            <p:cNvSpPr/>
            <p:nvPr/>
          </p:nvSpPr>
          <p:spPr>
            <a:xfrm>
              <a:off x="2327149" y="3348565"/>
              <a:ext cx="1271344" cy="7195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2. </a:t>
              </a:r>
              <a:r>
                <a:rPr lang="zh-CN" altLang="en-US" sz="2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原理：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9D39A87-D45B-774B-91FD-ADC1CC02A6F9}"/>
                </a:ext>
              </a:extLst>
            </p:cNvPr>
            <p:cNvGrpSpPr/>
            <p:nvPr/>
          </p:nvGrpSpPr>
          <p:grpSpPr>
            <a:xfrm>
              <a:off x="3598493" y="3619344"/>
              <a:ext cx="5261377" cy="461665"/>
              <a:chOff x="3791533" y="4007377"/>
              <a:chExt cx="5261377" cy="461665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20F9095-5955-A643-A9AE-915D07F56EA5}"/>
                  </a:ext>
                </a:extLst>
              </p:cNvPr>
              <p:cNvSpPr/>
              <p:nvPr/>
            </p:nvSpPr>
            <p:spPr>
              <a:xfrm>
                <a:off x="3791533" y="4007377"/>
                <a:ext cx="52613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CaCO</a:t>
                </a:r>
                <a:r>
                  <a:rPr lang="en-US" altLang="zh-CN" sz="2400" baseline="-250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US" altLang="zh-CN" sz="2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+ 2HCl       CaCl</a:t>
                </a:r>
                <a:r>
                  <a:rPr lang="en-US" altLang="zh-CN" sz="2400" baseline="-250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CO</a:t>
                </a:r>
                <a:r>
                  <a:rPr lang="en-US" altLang="zh-CN" sz="2400" baseline="-250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H</a:t>
                </a:r>
                <a:r>
                  <a:rPr lang="en-US" altLang="zh-CN" sz="2400" baseline="-250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endParaRPr lang="zh-CN" altLang="en-US" sz="2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" name="直接箭头连接符 9">
                <a:extLst>
                  <a:ext uri="{FF2B5EF4-FFF2-40B4-BE49-F238E27FC236}">
                    <a16:creationId xmlns:a16="http://schemas.microsoft.com/office/drawing/2014/main" id="{508E9979-3257-8141-A329-090775F44132}"/>
                  </a:ext>
                </a:extLst>
              </p:cNvPr>
              <p:cNvCxnSpPr/>
              <p:nvPr/>
            </p:nvCxnSpPr>
            <p:spPr>
              <a:xfrm flipV="1">
                <a:off x="7872247" y="4066234"/>
                <a:ext cx="0" cy="3439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43DEB4B-857D-4236-AD34-688297C4971A}"/>
              </a:ext>
            </a:extLst>
          </p:cNvPr>
          <p:cNvCxnSpPr/>
          <p:nvPr/>
        </p:nvCxnSpPr>
        <p:spPr>
          <a:xfrm>
            <a:off x="5944998" y="3231159"/>
            <a:ext cx="3020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460DCC4-9E55-46E3-AA5D-E50E7CF248F7}"/>
              </a:ext>
            </a:extLst>
          </p:cNvPr>
          <p:cNvCxnSpPr/>
          <p:nvPr/>
        </p:nvCxnSpPr>
        <p:spPr>
          <a:xfrm>
            <a:off x="5944998" y="3299669"/>
            <a:ext cx="3020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12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B0C597-BA67-5248-BD7B-FAC769EA09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547648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回忆实验室制取氧气的装置</a:t>
            </a:r>
          </a:p>
          <a:p>
            <a:endParaRPr kumimoji="1"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BA928A0-BEC1-8540-AB01-F726F21CA12F}"/>
              </a:ext>
            </a:extLst>
          </p:cNvPr>
          <p:cNvGrpSpPr/>
          <p:nvPr/>
        </p:nvGrpSpPr>
        <p:grpSpPr>
          <a:xfrm>
            <a:off x="670811" y="1772351"/>
            <a:ext cx="5983988" cy="4103501"/>
            <a:chOff x="670811" y="1772351"/>
            <a:chExt cx="5983988" cy="4103501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CFB3900-CDF2-6048-A1A6-4AF126BE5C86}"/>
                </a:ext>
              </a:extLst>
            </p:cNvPr>
            <p:cNvSpPr/>
            <p:nvPr/>
          </p:nvSpPr>
          <p:spPr>
            <a:xfrm>
              <a:off x="670811" y="1772351"/>
              <a:ext cx="5983988" cy="4103501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BA393B7-3B7C-FC4E-8186-E8C921FDC8A1}"/>
                </a:ext>
              </a:extLst>
            </p:cNvPr>
            <p:cNvGrpSpPr/>
            <p:nvPr/>
          </p:nvGrpSpPr>
          <p:grpSpPr>
            <a:xfrm>
              <a:off x="1178316" y="2062051"/>
              <a:ext cx="5344048" cy="3653247"/>
              <a:chOff x="1440374" y="2072211"/>
              <a:chExt cx="5344048" cy="3653247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3F0B8AB2-A956-CB4D-B54D-D46A34DB02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7474"/>
              <a:stretch/>
            </p:blipFill>
            <p:spPr>
              <a:xfrm>
                <a:off x="1531491" y="2072211"/>
                <a:ext cx="4857749" cy="3280099"/>
              </a:xfrm>
              <a:prstGeom prst="rect">
                <a:avLst/>
              </a:prstGeom>
            </p:spPr>
          </p:pic>
          <p:cxnSp>
            <p:nvCxnSpPr>
              <p:cNvPr id="10" name="直接连接符 20">
                <a:extLst>
                  <a:ext uri="{FF2B5EF4-FFF2-40B4-BE49-F238E27FC236}">
                    <a16:creationId xmlns:a16="http://schemas.microsoft.com/office/drawing/2014/main" id="{50EC3908-B31B-0A42-88EB-2EE4E9FC1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366" y="2099346"/>
                <a:ext cx="0" cy="3438005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E815B-99E6-0845-9C72-BE2BE2F8FB42}"/>
                  </a:ext>
                </a:extLst>
              </p:cNvPr>
              <p:cNvSpPr txBox="1"/>
              <p:nvPr/>
            </p:nvSpPr>
            <p:spPr>
              <a:xfrm>
                <a:off x="1440374" y="5225834"/>
                <a:ext cx="2348034" cy="49962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发生装置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230974-441A-6249-8424-6FF03FA68CE3}"/>
                  </a:ext>
                </a:extLst>
              </p:cNvPr>
              <p:cNvSpPr txBox="1"/>
              <p:nvPr/>
            </p:nvSpPr>
            <p:spPr>
              <a:xfrm>
                <a:off x="4201585" y="5225834"/>
                <a:ext cx="2582837" cy="49962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收集装置</a:t>
                </a: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EDDD6D9-21DF-BA4C-AB1D-C45EEE1723C6}"/>
              </a:ext>
            </a:extLst>
          </p:cNvPr>
          <p:cNvGrpSpPr/>
          <p:nvPr/>
        </p:nvGrpSpPr>
        <p:grpSpPr>
          <a:xfrm>
            <a:off x="6998715" y="1772350"/>
            <a:ext cx="4301512" cy="4103501"/>
            <a:chOff x="6998715" y="1772350"/>
            <a:chExt cx="4301512" cy="4103501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21114CC-65E8-714A-88A3-004F8A7F76C6}"/>
                </a:ext>
              </a:extLst>
            </p:cNvPr>
            <p:cNvSpPr/>
            <p:nvPr/>
          </p:nvSpPr>
          <p:spPr>
            <a:xfrm>
              <a:off x="6998715" y="1772350"/>
              <a:ext cx="3902963" cy="4103501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C3183D0-8A86-124E-ADDC-86449B8ABCBB}"/>
                </a:ext>
              </a:extLst>
            </p:cNvPr>
            <p:cNvGrpSpPr/>
            <p:nvPr/>
          </p:nvGrpSpPr>
          <p:grpSpPr>
            <a:xfrm>
              <a:off x="7071198" y="2062051"/>
              <a:ext cx="4229029" cy="3615591"/>
              <a:chOff x="7071198" y="2062051"/>
              <a:chExt cx="4229029" cy="361559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BEE2149-37EF-C048-A5D8-30BE3D8DE1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9458"/>
              <a:stretch/>
            </p:blipFill>
            <p:spPr>
              <a:xfrm>
                <a:off x="7579360" y="2935869"/>
                <a:ext cx="2966720" cy="2320521"/>
              </a:xfrm>
              <a:prstGeom prst="rect">
                <a:avLst/>
              </a:prstGeom>
            </p:spPr>
          </p:pic>
          <p:cxnSp>
            <p:nvCxnSpPr>
              <p:cNvPr id="15" name="直接连接符 20">
                <a:extLst>
                  <a:ext uri="{FF2B5EF4-FFF2-40B4-BE49-F238E27FC236}">
                    <a16:creationId xmlns:a16="http://schemas.microsoft.com/office/drawing/2014/main" id="{B15023C0-E570-7E48-B450-2B6BB42A8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3908" y="2062051"/>
                <a:ext cx="0" cy="3438005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9A173EF-D4F6-924A-A18C-0565306E7AA8}"/>
                  </a:ext>
                </a:extLst>
              </p:cNvPr>
              <p:cNvSpPr txBox="1"/>
              <p:nvPr/>
            </p:nvSpPr>
            <p:spPr>
              <a:xfrm>
                <a:off x="7071198" y="5178018"/>
                <a:ext cx="2348034" cy="49962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发生装置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B8FF137-961D-394F-9A87-E27231E06111}"/>
                  </a:ext>
                </a:extLst>
              </p:cNvPr>
              <p:cNvSpPr txBox="1"/>
              <p:nvPr/>
            </p:nvSpPr>
            <p:spPr>
              <a:xfrm>
                <a:off x="8717390" y="5178018"/>
                <a:ext cx="2582837" cy="49962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收集装置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601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B0C597-BA67-5248-BD7B-FAC769EA09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622832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二、探究制取二氧化碳的发生装置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468A2D-114F-3642-AA8F-258AED1F9F18}"/>
              </a:ext>
            </a:extLst>
          </p:cNvPr>
          <p:cNvSpPr/>
          <p:nvPr/>
        </p:nvSpPr>
        <p:spPr>
          <a:xfrm>
            <a:off x="1374506" y="1293967"/>
            <a:ext cx="5835941" cy="622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实验室制取氧气的发生装置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C1B96C9-E981-3E47-B3BD-6E2F7B42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79575"/>
              </p:ext>
            </p:extLst>
          </p:nvPr>
        </p:nvGraphicFramePr>
        <p:xfrm>
          <a:off x="1374506" y="2235200"/>
          <a:ext cx="9395094" cy="4143334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003931">
                  <a:extLst>
                    <a:ext uri="{9D8B030D-6E8A-4147-A177-3AD203B41FA5}">
                      <a16:colId xmlns:a16="http://schemas.microsoft.com/office/drawing/2014/main" val="524847040"/>
                    </a:ext>
                  </a:extLst>
                </a:gridCol>
                <a:gridCol w="3480459">
                  <a:extLst>
                    <a:ext uri="{9D8B030D-6E8A-4147-A177-3AD203B41FA5}">
                      <a16:colId xmlns:a16="http://schemas.microsoft.com/office/drawing/2014/main" val="53047699"/>
                    </a:ext>
                  </a:extLst>
                </a:gridCol>
                <a:gridCol w="1457824">
                  <a:extLst>
                    <a:ext uri="{9D8B030D-6E8A-4147-A177-3AD203B41FA5}">
                      <a16:colId xmlns:a16="http://schemas.microsoft.com/office/drawing/2014/main" val="3133839230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2092831568"/>
                    </a:ext>
                  </a:extLst>
                </a:gridCol>
              </a:tblGrid>
              <a:tr h="5283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发生装置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选择依据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i="0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50908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b="1" i="0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1" i="0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反应物状态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反应条件</a:t>
                      </a:r>
                    </a:p>
                  </a:txBody>
                  <a:tcPr marL="6350" marR="6350" marT="6350" marB="0" anchor="ctr">
                    <a:solidFill>
                      <a:srgbClr val="F4A6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0539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高锰酸钾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b">
                    <a:solidFill>
                      <a:srgbClr val="E4E4E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443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氯酸钾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90183"/>
                  </a:ext>
                </a:extLst>
              </a:tr>
              <a:tr h="1420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过氧化氢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b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30750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6EB8EB69-000E-49A6-B1CC-90EC75C16F3C}"/>
              </a:ext>
            </a:extLst>
          </p:cNvPr>
          <p:cNvGrpSpPr/>
          <p:nvPr/>
        </p:nvGrpSpPr>
        <p:grpSpPr>
          <a:xfrm>
            <a:off x="5155774" y="3411003"/>
            <a:ext cx="2486596" cy="1434619"/>
            <a:chOff x="5155774" y="3411003"/>
            <a:chExt cx="2486596" cy="143461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DF932ED-CB7B-6848-A507-48949A1B8F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0724" b="7474"/>
            <a:stretch/>
          </p:blipFill>
          <p:spPr>
            <a:xfrm>
              <a:off x="5155774" y="3411003"/>
              <a:ext cx="1259402" cy="143461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E22906-6118-4840-BB76-AFBC9B1AB0C2}"/>
                </a:ext>
              </a:extLst>
            </p:cNvPr>
            <p:cNvSpPr txBox="1"/>
            <p:nvPr/>
          </p:nvSpPr>
          <p:spPr>
            <a:xfrm>
              <a:off x="6545001" y="3837555"/>
              <a:ext cx="1097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固体加热型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F7C8CB1-4506-497B-81DC-9ACB97BB3C6F}"/>
              </a:ext>
            </a:extLst>
          </p:cNvPr>
          <p:cNvGrpSpPr/>
          <p:nvPr/>
        </p:nvGrpSpPr>
        <p:grpSpPr>
          <a:xfrm>
            <a:off x="5314471" y="4986882"/>
            <a:ext cx="2461060" cy="1351012"/>
            <a:chOff x="5353668" y="4986882"/>
            <a:chExt cx="2461060" cy="135101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95A5AB3-AE7B-3845-A5FF-2AC4F51F35F5}"/>
                </a:ext>
              </a:extLst>
            </p:cNvPr>
            <p:cNvSpPr/>
            <p:nvPr/>
          </p:nvSpPr>
          <p:spPr>
            <a:xfrm>
              <a:off x="6457301" y="5370000"/>
              <a:ext cx="135742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固液混合不加热型</a:t>
              </a: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8FC5EA3-4332-9B4C-8391-1719BC517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000" b="9458"/>
            <a:stretch/>
          </p:blipFill>
          <p:spPr>
            <a:xfrm>
              <a:off x="5353668" y="4986882"/>
              <a:ext cx="863615" cy="1351012"/>
            </a:xfrm>
            <a:prstGeom prst="rect">
              <a:avLst/>
            </a:prstGeom>
          </p:spPr>
        </p:pic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1181B07-76C4-4CA6-AB00-9C5F2C11027D}"/>
              </a:ext>
            </a:extLst>
          </p:cNvPr>
          <p:cNvSpPr/>
          <p:nvPr/>
        </p:nvSpPr>
        <p:spPr>
          <a:xfrm>
            <a:off x="8210840" y="394364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181C60-B7C6-47F0-905E-F90E16958421}"/>
              </a:ext>
            </a:extLst>
          </p:cNvPr>
          <p:cNvSpPr/>
          <p:nvPr/>
        </p:nvSpPr>
        <p:spPr>
          <a:xfrm>
            <a:off x="7895941" y="5462333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固体和液体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2EB862-1D5D-49BD-90E1-24DE3DD1B1A3}"/>
              </a:ext>
            </a:extLst>
          </p:cNvPr>
          <p:cNvSpPr/>
          <p:nvPr/>
        </p:nvSpPr>
        <p:spPr>
          <a:xfrm>
            <a:off x="9589250" y="5468517"/>
            <a:ext cx="9541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不加热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D72EF2-4B5A-4772-82DC-6C0CA06147C6}"/>
              </a:ext>
            </a:extLst>
          </p:cNvPr>
          <p:cNvSpPr/>
          <p:nvPr/>
        </p:nvSpPr>
        <p:spPr>
          <a:xfrm>
            <a:off x="9717490" y="394364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加热</a:t>
            </a:r>
          </a:p>
        </p:txBody>
      </p:sp>
    </p:spTree>
    <p:extLst>
      <p:ext uri="{BB962C8B-B14F-4D97-AF65-F5344CB8AC3E}">
        <p14:creationId xmlns:p14="http://schemas.microsoft.com/office/powerpoint/2010/main" val="97855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0167F4F-8AF3-2646-885C-7BBEBD559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118967"/>
              </p:ext>
            </p:extLst>
          </p:nvPr>
        </p:nvGraphicFramePr>
        <p:xfrm>
          <a:off x="836395" y="1493520"/>
          <a:ext cx="10095765" cy="405561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68412">
                  <a:extLst>
                    <a:ext uri="{9D8B030D-6E8A-4147-A177-3AD203B41FA5}">
                      <a16:colId xmlns:a16="http://schemas.microsoft.com/office/drawing/2014/main" val="524847040"/>
                    </a:ext>
                  </a:extLst>
                </a:gridCol>
                <a:gridCol w="1729273">
                  <a:extLst>
                    <a:ext uri="{9D8B030D-6E8A-4147-A177-3AD203B41FA5}">
                      <a16:colId xmlns:a16="http://schemas.microsoft.com/office/drawing/2014/main" val="53047699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110535621"/>
                    </a:ext>
                  </a:extLst>
                </a:gridCol>
                <a:gridCol w="2329352">
                  <a:extLst>
                    <a:ext uri="{9D8B030D-6E8A-4147-A177-3AD203B41FA5}">
                      <a16:colId xmlns:a16="http://schemas.microsoft.com/office/drawing/2014/main" val="3592208789"/>
                    </a:ext>
                  </a:extLst>
                </a:gridCol>
                <a:gridCol w="3055448">
                  <a:extLst>
                    <a:ext uri="{9D8B030D-6E8A-4147-A177-3AD203B41FA5}">
                      <a16:colId xmlns:a16="http://schemas.microsoft.com/office/drawing/2014/main" val="2043234615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装置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90183"/>
                  </a:ext>
                </a:extLst>
              </a:tr>
              <a:tr h="17696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优点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装置简单</a:t>
                      </a: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3075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C91393B2-ABA9-9E45-8B84-99B11ECBCF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4784551" y="5905523"/>
            <a:ext cx="430970" cy="4302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C2D21D-86CE-854E-9894-6445A094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10122557" y="-2252491"/>
            <a:ext cx="3894543" cy="38883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B13D38-1B5F-0D47-B511-DFDB69F8E0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786740" y="5905523"/>
            <a:ext cx="5581405" cy="55724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0DDC60-0CB3-344F-B19B-2DA9A68040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9320650" y="301272"/>
            <a:ext cx="368196" cy="3676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695F2C-2A6F-0B48-84B7-36B7EF7FFC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965314" y="6029555"/>
            <a:ext cx="5581405" cy="55724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0A85FD4-F1E8-394E-8684-E8DD9DAAE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365" y="1988159"/>
            <a:ext cx="491452" cy="15702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A19E14F-AE1E-1042-8903-07F2067AF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88" y="1988159"/>
            <a:ext cx="775310" cy="15702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80BC5D3-1A5B-F847-AB31-C3F0B419D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011" y="2106182"/>
            <a:ext cx="1241510" cy="1452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3C0D6B-6612-7B4F-8055-60B32ABB6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588" y="1894113"/>
            <a:ext cx="959280" cy="166429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6DF2D3F-1759-40C6-8DCD-8EE6137915EE}"/>
              </a:ext>
            </a:extLst>
          </p:cNvPr>
          <p:cNvSpPr/>
          <p:nvPr/>
        </p:nvSpPr>
        <p:spPr>
          <a:xfrm>
            <a:off x="3772788" y="4215971"/>
            <a:ext cx="13499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便于随时添加药品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4F3A6-2F68-4597-AB5E-1B517AD23713}"/>
              </a:ext>
            </a:extLst>
          </p:cNvPr>
          <p:cNvSpPr/>
          <p:nvPr/>
        </p:nvSpPr>
        <p:spPr>
          <a:xfrm>
            <a:off x="6076606" y="4215971"/>
            <a:ext cx="13538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可以控制反应速率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26E5A7-A7C8-49B6-A4EB-25F36E8BB07E}"/>
              </a:ext>
            </a:extLst>
          </p:cNvPr>
          <p:cNvSpPr/>
          <p:nvPr/>
        </p:nvSpPr>
        <p:spPr>
          <a:xfrm>
            <a:off x="8389184" y="4211488"/>
            <a:ext cx="1862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可以控制反应的发生和停止</a:t>
            </a:r>
          </a:p>
        </p:txBody>
      </p:sp>
    </p:spTree>
    <p:extLst>
      <p:ext uri="{BB962C8B-B14F-4D97-AF65-F5344CB8AC3E}">
        <p14:creationId xmlns:p14="http://schemas.microsoft.com/office/powerpoint/2010/main" val="71796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>
            <a:extLst>
              <a:ext uri="{FF2B5EF4-FFF2-40B4-BE49-F238E27FC236}">
                <a16:creationId xmlns:a16="http://schemas.microsoft.com/office/drawing/2014/main" id="{A96139E3-2B89-EB4F-94A6-1965677908F7}"/>
              </a:ext>
            </a:extLst>
          </p:cNvPr>
          <p:cNvSpPr/>
          <p:nvPr/>
        </p:nvSpPr>
        <p:spPr>
          <a:xfrm>
            <a:off x="2092960" y="2157202"/>
            <a:ext cx="8138160" cy="376935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B0C597-BA67-5248-BD7B-FAC769EA09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7356084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思考与交流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468A2D-114F-3642-AA8F-258AED1F9F18}"/>
              </a:ext>
            </a:extLst>
          </p:cNvPr>
          <p:cNvSpPr/>
          <p:nvPr/>
        </p:nvSpPr>
        <p:spPr>
          <a:xfrm>
            <a:off x="1374506" y="1182207"/>
            <a:ext cx="7891958" cy="667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用下图装置制取</a:t>
            </a:r>
            <a:r>
              <a:rPr lang="en-US" altLang="zh-CN" sz="2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</a:t>
            </a:r>
            <a:r>
              <a:rPr lang="en-US" altLang="zh-CN" sz="22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如何操作才能控制反应的发生和停止？</a:t>
            </a:r>
          </a:p>
        </p:txBody>
      </p:sp>
      <p:sp>
        <p:nvSpPr>
          <p:cNvPr id="18" name="虚尾箭头 17">
            <a:extLst>
              <a:ext uri="{FF2B5EF4-FFF2-40B4-BE49-F238E27FC236}">
                <a16:creationId xmlns:a16="http://schemas.microsoft.com/office/drawing/2014/main" id="{E032A6E0-BF0A-1547-88AF-348A16CBAA8F}"/>
              </a:ext>
            </a:extLst>
          </p:cNvPr>
          <p:cNvSpPr/>
          <p:nvPr/>
        </p:nvSpPr>
        <p:spPr>
          <a:xfrm>
            <a:off x="3964954" y="3749105"/>
            <a:ext cx="978408" cy="292776"/>
          </a:xfrm>
          <a:prstGeom prst="striped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094506-220B-0C4D-A333-66FD9136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81" y="2797323"/>
            <a:ext cx="1839683" cy="29405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D05533-2072-8B46-BCE0-BFA75974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766" y="2932577"/>
            <a:ext cx="898327" cy="26700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B48355B-9000-F142-85BE-DF7916F48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453" y="2797323"/>
            <a:ext cx="1824907" cy="29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5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B0C597-BA67-5248-BD7B-FAC769EA09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7356084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三、探究制取二氧化碳的收集装置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468A2D-114F-3642-AA8F-258AED1F9F18}"/>
              </a:ext>
            </a:extLst>
          </p:cNvPr>
          <p:cNvSpPr/>
          <p:nvPr/>
        </p:nvSpPr>
        <p:spPr>
          <a:xfrm>
            <a:off x="1374506" y="1182207"/>
            <a:ext cx="3752280" cy="667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气体收集的一般方法和装置：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E76241-1A10-BB4D-8532-5ECC5A156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55218"/>
              </p:ext>
            </p:extLst>
          </p:nvPr>
        </p:nvGraphicFramePr>
        <p:xfrm>
          <a:off x="1374506" y="2092886"/>
          <a:ext cx="8866773" cy="405398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272934">
                  <a:extLst>
                    <a:ext uri="{9D8B030D-6E8A-4147-A177-3AD203B41FA5}">
                      <a16:colId xmlns:a16="http://schemas.microsoft.com/office/drawing/2014/main" val="524847040"/>
                    </a:ext>
                  </a:extLst>
                </a:gridCol>
                <a:gridCol w="2201886">
                  <a:extLst>
                    <a:ext uri="{9D8B030D-6E8A-4147-A177-3AD203B41FA5}">
                      <a16:colId xmlns:a16="http://schemas.microsoft.com/office/drawing/2014/main" val="53047699"/>
                    </a:ext>
                  </a:extLst>
                </a:gridCol>
                <a:gridCol w="2187234">
                  <a:extLst>
                    <a:ext uri="{9D8B030D-6E8A-4147-A177-3AD203B41FA5}">
                      <a16:colId xmlns:a16="http://schemas.microsoft.com/office/drawing/2014/main" val="110535621"/>
                    </a:ext>
                  </a:extLst>
                </a:gridCol>
                <a:gridCol w="2204719">
                  <a:extLst>
                    <a:ext uri="{9D8B030D-6E8A-4147-A177-3AD203B41FA5}">
                      <a16:colId xmlns:a16="http://schemas.microsoft.com/office/drawing/2014/main" val="3592208789"/>
                    </a:ext>
                  </a:extLst>
                </a:gridCol>
              </a:tblGrid>
              <a:tr h="16256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气体收集装置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9018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endParaRPr lang="en-US" altLang="zh-CN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气体收集的方法</a:t>
                      </a:r>
                    </a:p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10073"/>
                  </a:ext>
                </a:extLst>
              </a:tr>
              <a:tr h="13310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选择依据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4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3075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C31D97BD-9CDB-7F4F-A01E-BDFF42DA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210" y="2459687"/>
            <a:ext cx="774700" cy="1104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96A42D-B65C-814A-BA15-C05BFE23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2556422"/>
            <a:ext cx="1413510" cy="10081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DE80AF-B86B-144B-97C0-E352C590A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730" y="2459687"/>
            <a:ext cx="774700" cy="11049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17EB4F-0072-4F01-8304-F52A85CA86A5}"/>
              </a:ext>
            </a:extLst>
          </p:cNvPr>
          <p:cNvSpPr/>
          <p:nvPr/>
        </p:nvSpPr>
        <p:spPr>
          <a:xfrm>
            <a:off x="4211151" y="4078543"/>
            <a:ext cx="9541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排水法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94362-F206-4D15-8877-3BF33689CE38}"/>
              </a:ext>
            </a:extLst>
          </p:cNvPr>
          <p:cNvSpPr/>
          <p:nvPr/>
        </p:nvSpPr>
        <p:spPr>
          <a:xfrm>
            <a:off x="6096000" y="4080036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向上排空气法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B1672D-1230-4D51-9998-9F969B5E29BA}"/>
              </a:ext>
            </a:extLst>
          </p:cNvPr>
          <p:cNvSpPr/>
          <p:nvPr/>
        </p:nvSpPr>
        <p:spPr>
          <a:xfrm>
            <a:off x="8206397" y="40785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向下排空气法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61285B-A0D1-44E3-9FC6-6709F0A4952D}"/>
              </a:ext>
            </a:extLst>
          </p:cNvPr>
          <p:cNvSpPr/>
          <p:nvPr/>
        </p:nvSpPr>
        <p:spPr>
          <a:xfrm>
            <a:off x="3976443" y="5027107"/>
            <a:ext cx="17235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不溶于水，且不与水反应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950E66-0F25-4A54-8772-0223D0DA8E84}"/>
              </a:ext>
            </a:extLst>
          </p:cNvPr>
          <p:cNvSpPr/>
          <p:nvPr/>
        </p:nvSpPr>
        <p:spPr>
          <a:xfrm>
            <a:off x="6133021" y="518099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密度比空气小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A3829A-A1D6-4412-8BBC-22F379FEF904}"/>
              </a:ext>
            </a:extLst>
          </p:cNvPr>
          <p:cNvSpPr/>
          <p:nvPr/>
        </p:nvSpPr>
        <p:spPr>
          <a:xfrm>
            <a:off x="8206397" y="518099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密度比空气大</a:t>
            </a:r>
          </a:p>
        </p:txBody>
      </p:sp>
    </p:spTree>
    <p:extLst>
      <p:ext uri="{BB962C8B-B14F-4D97-AF65-F5344CB8AC3E}">
        <p14:creationId xmlns:p14="http://schemas.microsoft.com/office/powerpoint/2010/main" val="42347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07887DA5-77CA-3349-ADCE-8E970D6945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9276323" cy="6397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实验室制取二氧化碳的收集方法：向上排空气法</a:t>
            </a:r>
          </a:p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C3CAD4B-25A4-064A-BA39-934256C5697B}"/>
              </a:ext>
            </a:extLst>
          </p:cNvPr>
          <p:cNvGrpSpPr/>
          <p:nvPr/>
        </p:nvGrpSpPr>
        <p:grpSpPr>
          <a:xfrm>
            <a:off x="3208059" y="1731711"/>
            <a:ext cx="4950421" cy="4103501"/>
            <a:chOff x="3512859" y="1792671"/>
            <a:chExt cx="4950421" cy="4103501"/>
          </a:xfrm>
        </p:grpSpPr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EDC3AEE9-ECA8-0C42-9F28-C8B08CFD9C3D}"/>
                </a:ext>
              </a:extLst>
            </p:cNvPr>
            <p:cNvSpPr/>
            <p:nvPr/>
          </p:nvSpPr>
          <p:spPr>
            <a:xfrm>
              <a:off x="3512859" y="1792671"/>
              <a:ext cx="4950421" cy="4103501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4F8434B-C918-834C-95F6-BE3D39D8A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4443" y="2785835"/>
              <a:ext cx="2374900" cy="241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40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012510-EBA5-E84A-8E97-AEF876606E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678712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实验室制取二氧化碳的装置：</a:t>
            </a:r>
          </a:p>
          <a:p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827FF3B-9C3D-B545-B6E5-8231746F4276}"/>
              </a:ext>
            </a:extLst>
          </p:cNvPr>
          <p:cNvGrpSpPr/>
          <p:nvPr/>
        </p:nvGrpSpPr>
        <p:grpSpPr>
          <a:xfrm>
            <a:off x="6151758" y="2082800"/>
            <a:ext cx="4170802" cy="3203772"/>
            <a:chOff x="6151758" y="2082800"/>
            <a:chExt cx="4170802" cy="3203772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0408CFF-81F6-1E4B-A1C6-9CFC569B2B33}"/>
                </a:ext>
              </a:extLst>
            </p:cNvPr>
            <p:cNvGrpSpPr/>
            <p:nvPr/>
          </p:nvGrpSpPr>
          <p:grpSpPr>
            <a:xfrm>
              <a:off x="6151758" y="2082800"/>
              <a:ext cx="4170802" cy="3203772"/>
              <a:chOff x="6151758" y="2082800"/>
              <a:chExt cx="4170802" cy="3203772"/>
            </a:xfrm>
          </p:grpSpPr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3F5521EA-7D10-A343-BF5E-D0A84632239F}"/>
                  </a:ext>
                </a:extLst>
              </p:cNvPr>
              <p:cNvSpPr/>
              <p:nvPr/>
            </p:nvSpPr>
            <p:spPr>
              <a:xfrm>
                <a:off x="6151758" y="2082800"/>
                <a:ext cx="4170802" cy="320377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BB180F-6917-8A45-98EC-FFBB84FF9207}"/>
                  </a:ext>
                </a:extLst>
              </p:cNvPr>
              <p:cNvSpPr txBox="1"/>
              <p:nvPr/>
            </p:nvSpPr>
            <p:spPr>
              <a:xfrm>
                <a:off x="7063142" y="4783907"/>
                <a:ext cx="2348034" cy="45890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图</a:t>
                </a:r>
                <a:r>
                  <a:rPr lang="en-US" altLang="zh-CN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</a:t>
                </a:r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C17D82B-940B-7247-8CEA-963892235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2239" y="2366789"/>
              <a:ext cx="2929840" cy="2417118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E1B6919-AF47-4B7D-8F99-4051A39BE353}"/>
              </a:ext>
            </a:extLst>
          </p:cNvPr>
          <p:cNvGrpSpPr/>
          <p:nvPr/>
        </p:nvGrpSpPr>
        <p:grpSpPr>
          <a:xfrm>
            <a:off x="1523757" y="2082800"/>
            <a:ext cx="3607043" cy="3203772"/>
            <a:chOff x="1523757" y="2082800"/>
            <a:chExt cx="3607043" cy="320377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BF294B4-9A37-184C-B860-9B22A5F0EDD2}"/>
                </a:ext>
              </a:extLst>
            </p:cNvPr>
            <p:cNvGrpSpPr/>
            <p:nvPr/>
          </p:nvGrpSpPr>
          <p:grpSpPr>
            <a:xfrm>
              <a:off x="1523757" y="2082800"/>
              <a:ext cx="3607043" cy="3203772"/>
              <a:chOff x="1523757" y="2082800"/>
              <a:chExt cx="3607043" cy="3203772"/>
            </a:xfrm>
          </p:grpSpPr>
          <p:sp>
            <p:nvSpPr>
              <p:cNvPr id="3" name="圆角矩形 2">
                <a:extLst>
                  <a:ext uri="{FF2B5EF4-FFF2-40B4-BE49-F238E27FC236}">
                    <a16:creationId xmlns:a16="http://schemas.microsoft.com/office/drawing/2014/main" id="{3D490C47-B15A-2C40-BCE5-F0C932C8F031}"/>
                  </a:ext>
                </a:extLst>
              </p:cNvPr>
              <p:cNvSpPr/>
              <p:nvPr/>
            </p:nvSpPr>
            <p:spPr>
              <a:xfrm>
                <a:off x="1523757" y="2082800"/>
                <a:ext cx="3607043" cy="320377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214C042-D499-DF4F-B178-6E7ACA04138F}"/>
                  </a:ext>
                </a:extLst>
              </p:cNvPr>
              <p:cNvSpPr txBox="1"/>
              <p:nvPr/>
            </p:nvSpPr>
            <p:spPr>
              <a:xfrm>
                <a:off x="1955814" y="4787024"/>
                <a:ext cx="2348034" cy="45890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图</a:t>
                </a:r>
                <a:r>
                  <a:rPr lang="en-US" altLang="zh-CN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</a:t>
                </a:r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C268DF5-6192-48E9-AC15-B3D0F0DC2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7947" y="2366789"/>
              <a:ext cx="2035396" cy="22862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35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012510-EBA5-E84A-8E97-AEF876606E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9166687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思考与交流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A00BB4-A311-4F46-B557-2BEA3D9CD79A}"/>
              </a:ext>
            </a:extLst>
          </p:cNvPr>
          <p:cNvSpPr/>
          <p:nvPr/>
        </p:nvSpPr>
        <p:spPr>
          <a:xfrm>
            <a:off x="1651379" y="1091552"/>
            <a:ext cx="7159894" cy="71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选择下列仪器，组装制取二氧化碳的实验装置。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FC68A0F-1373-2044-8720-70B458FFA0A0}"/>
              </a:ext>
            </a:extLst>
          </p:cNvPr>
          <p:cNvGrpSpPr/>
          <p:nvPr/>
        </p:nvGrpSpPr>
        <p:grpSpPr>
          <a:xfrm>
            <a:off x="1651379" y="1954035"/>
            <a:ext cx="9062113" cy="4249761"/>
            <a:chOff x="2060811" y="2082799"/>
            <a:chExt cx="9062113" cy="4249761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03F8AE7E-7EAF-A64A-8E15-1DFDF5555ABD}"/>
                </a:ext>
              </a:extLst>
            </p:cNvPr>
            <p:cNvSpPr/>
            <p:nvPr/>
          </p:nvSpPr>
          <p:spPr>
            <a:xfrm>
              <a:off x="2060811" y="2082799"/>
              <a:ext cx="9062113" cy="4249761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4DECFF7-3DDB-E640-9DB9-394CFF3AA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0022" y="2332688"/>
              <a:ext cx="7683690" cy="37281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243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012510-EBA5-E84A-8E97-AEF876606E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9166687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思考与交流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A00BB4-A311-4F46-B557-2BEA3D9CD79A}"/>
              </a:ext>
            </a:extLst>
          </p:cNvPr>
          <p:cNvSpPr/>
          <p:nvPr/>
        </p:nvSpPr>
        <p:spPr>
          <a:xfrm>
            <a:off x="1409631" y="1064613"/>
            <a:ext cx="7159894" cy="71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可组装的一些发生装置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56942CC-6009-B140-9EC2-2E5200ABDD4C}"/>
              </a:ext>
            </a:extLst>
          </p:cNvPr>
          <p:cNvGrpSpPr/>
          <p:nvPr/>
        </p:nvGrpSpPr>
        <p:grpSpPr>
          <a:xfrm>
            <a:off x="3588102" y="2033739"/>
            <a:ext cx="1830948" cy="3384551"/>
            <a:chOff x="2608897" y="2026919"/>
            <a:chExt cx="1830948" cy="3384551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CBB29F72-0BC6-624E-9D06-7024C3C237FD}"/>
                </a:ext>
              </a:extLst>
            </p:cNvPr>
            <p:cNvSpPr/>
            <p:nvPr/>
          </p:nvSpPr>
          <p:spPr>
            <a:xfrm>
              <a:off x="2608897" y="2026919"/>
              <a:ext cx="1830948" cy="3384551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B8B2A095-BE3D-8344-8CA8-45DEEAF88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4786" y="3210560"/>
              <a:ext cx="1376097" cy="1738662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72D05A8-D3FA-B84F-9FA3-469392B28193}"/>
                </a:ext>
              </a:extLst>
            </p:cNvPr>
            <p:cNvSpPr txBox="1"/>
            <p:nvPr/>
          </p:nvSpPr>
          <p:spPr>
            <a:xfrm>
              <a:off x="3038369" y="4949222"/>
              <a:ext cx="972004" cy="45890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00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en-US" altLang="zh-CN" sz="1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</a:t>
              </a:r>
              <a:endPara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071B73-5ED4-2341-80B8-9C4615CF4F45}"/>
              </a:ext>
            </a:extLst>
          </p:cNvPr>
          <p:cNvGrpSpPr/>
          <p:nvPr/>
        </p:nvGrpSpPr>
        <p:grpSpPr>
          <a:xfrm>
            <a:off x="5996056" y="2033739"/>
            <a:ext cx="1830948" cy="3384551"/>
            <a:chOff x="5996056" y="2033739"/>
            <a:chExt cx="1830948" cy="3384551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409EDD5-C63E-5C44-8D6C-E38FB4448053}"/>
                </a:ext>
              </a:extLst>
            </p:cNvPr>
            <p:cNvGrpSpPr/>
            <p:nvPr/>
          </p:nvGrpSpPr>
          <p:grpSpPr>
            <a:xfrm>
              <a:off x="5996056" y="2033739"/>
              <a:ext cx="1830948" cy="3384551"/>
              <a:chOff x="4882638" y="2082799"/>
              <a:chExt cx="1830948" cy="3384551"/>
            </a:xfrm>
          </p:grpSpPr>
          <p:sp>
            <p:nvSpPr>
              <p:cNvPr id="25" name="圆角矩形 24">
                <a:extLst>
                  <a:ext uri="{FF2B5EF4-FFF2-40B4-BE49-F238E27FC236}">
                    <a16:creationId xmlns:a16="http://schemas.microsoft.com/office/drawing/2014/main" id="{D01013E2-074C-5C48-B9E9-F8137992F6BD}"/>
                  </a:ext>
                </a:extLst>
              </p:cNvPr>
              <p:cNvSpPr/>
              <p:nvPr/>
            </p:nvSpPr>
            <p:spPr>
              <a:xfrm>
                <a:off x="4882638" y="2082799"/>
                <a:ext cx="1830948" cy="3384551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77AAE20-F1D2-BC43-89E3-4FAECF025332}"/>
                  </a:ext>
                </a:extLst>
              </p:cNvPr>
              <p:cNvSpPr txBox="1"/>
              <p:nvPr/>
            </p:nvSpPr>
            <p:spPr>
              <a:xfrm>
                <a:off x="5279999" y="4949222"/>
                <a:ext cx="972004" cy="45890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en-US" altLang="zh-CN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</a:t>
                </a:r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B68BBE0-486B-B842-BBC1-18D489BB1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4950" y="2872260"/>
              <a:ext cx="780471" cy="2083782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52D53A5-6194-4EE0-ACC3-A007F21111AF}"/>
              </a:ext>
            </a:extLst>
          </p:cNvPr>
          <p:cNvGrpSpPr/>
          <p:nvPr/>
        </p:nvGrpSpPr>
        <p:grpSpPr>
          <a:xfrm>
            <a:off x="8404010" y="2037079"/>
            <a:ext cx="1830948" cy="3384551"/>
            <a:chOff x="8404010" y="2037079"/>
            <a:chExt cx="1830948" cy="3384551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037E272-A52C-BD48-9776-20C8F9F6F5AD}"/>
                </a:ext>
              </a:extLst>
            </p:cNvPr>
            <p:cNvGrpSpPr/>
            <p:nvPr/>
          </p:nvGrpSpPr>
          <p:grpSpPr>
            <a:xfrm>
              <a:off x="8404010" y="2037079"/>
              <a:ext cx="1830948" cy="3384551"/>
              <a:chOff x="7641799" y="2026919"/>
              <a:chExt cx="1830948" cy="3384551"/>
            </a:xfrm>
          </p:grpSpPr>
          <p:sp>
            <p:nvSpPr>
              <p:cNvPr id="28" name="圆角矩形 27">
                <a:extLst>
                  <a:ext uri="{FF2B5EF4-FFF2-40B4-BE49-F238E27FC236}">
                    <a16:creationId xmlns:a16="http://schemas.microsoft.com/office/drawing/2014/main" id="{70AAAEF5-1135-044D-8D98-85EBC34E368C}"/>
                  </a:ext>
                </a:extLst>
              </p:cNvPr>
              <p:cNvSpPr/>
              <p:nvPr/>
            </p:nvSpPr>
            <p:spPr>
              <a:xfrm>
                <a:off x="7641799" y="2026919"/>
                <a:ext cx="1830948" cy="3384551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C9CA4D4-4D34-1D4F-A661-BE03A0C356C6}"/>
                  </a:ext>
                </a:extLst>
              </p:cNvPr>
              <p:cNvSpPr txBox="1"/>
              <p:nvPr/>
            </p:nvSpPr>
            <p:spPr>
              <a:xfrm>
                <a:off x="8071271" y="4949222"/>
                <a:ext cx="972004" cy="45890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en-US" altLang="zh-CN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</a:t>
                </a:r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8D6ABDB-9D16-42FE-9A25-8B7D9182D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3482" y="2667699"/>
              <a:ext cx="1134434" cy="233785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76DF307-39DA-4FC6-9AD1-50086E16ECC7}"/>
              </a:ext>
            </a:extLst>
          </p:cNvPr>
          <p:cNvGrpSpPr/>
          <p:nvPr/>
        </p:nvGrpSpPr>
        <p:grpSpPr>
          <a:xfrm>
            <a:off x="1178316" y="2037079"/>
            <a:ext cx="1830948" cy="3384551"/>
            <a:chOff x="1178316" y="2037079"/>
            <a:chExt cx="1830948" cy="338455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9369F4B-0932-374C-B612-B43112A1B4DD}"/>
                </a:ext>
              </a:extLst>
            </p:cNvPr>
            <p:cNvGrpSpPr/>
            <p:nvPr/>
          </p:nvGrpSpPr>
          <p:grpSpPr>
            <a:xfrm>
              <a:off x="1178316" y="2037079"/>
              <a:ext cx="1830948" cy="3384551"/>
              <a:chOff x="482882" y="2026919"/>
              <a:chExt cx="1830948" cy="3384551"/>
            </a:xfrm>
          </p:grpSpPr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BE81E201-A76D-994B-89C1-18B53341CACD}"/>
                  </a:ext>
                </a:extLst>
              </p:cNvPr>
              <p:cNvSpPr/>
              <p:nvPr/>
            </p:nvSpPr>
            <p:spPr>
              <a:xfrm>
                <a:off x="482882" y="2026919"/>
                <a:ext cx="1830948" cy="3384551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D7F1A3F-BA79-0347-866A-E80426022671}"/>
                  </a:ext>
                </a:extLst>
              </p:cNvPr>
              <p:cNvSpPr txBox="1"/>
              <p:nvPr/>
            </p:nvSpPr>
            <p:spPr>
              <a:xfrm>
                <a:off x="912354" y="4937272"/>
                <a:ext cx="972004" cy="45890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1" sz="200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ctr"/>
                <a:r>
                  <a:rPr lang="en-US" altLang="zh-CN" sz="1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A</a:t>
                </a:r>
                <a:endParaRPr lang="zh-CN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0944A50-DA36-46B5-A32A-6C509820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05467" y="2780487"/>
              <a:ext cx="692104" cy="2166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72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1A5007-4A6D-ED41-8FEE-EA2C13A9B7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思考与交流</a:t>
            </a:r>
          </a:p>
          <a:p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3EC5A6-0876-5C42-B9EE-D91C957961E8}"/>
              </a:ext>
            </a:extLst>
          </p:cNvPr>
          <p:cNvSpPr/>
          <p:nvPr/>
        </p:nvSpPr>
        <p:spPr>
          <a:xfrm>
            <a:off x="1178317" y="1302466"/>
            <a:ext cx="4409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如何检验生成的气体是二氧化碳？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71F8A9-63A7-ED4C-ADC1-7EBC3FEE17F8}"/>
              </a:ext>
            </a:extLst>
          </p:cNvPr>
          <p:cNvSpPr/>
          <p:nvPr/>
        </p:nvSpPr>
        <p:spPr>
          <a:xfrm>
            <a:off x="6360793" y="1203442"/>
            <a:ext cx="4652890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用集气瓶收集二氧化碳时，如何证明集气瓶中已经充满了二氧化碳？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1F28E1-6F95-B24D-BD29-BBF8104A6BFA}"/>
              </a:ext>
            </a:extLst>
          </p:cNvPr>
          <p:cNvSpPr/>
          <p:nvPr/>
        </p:nvSpPr>
        <p:spPr>
          <a:xfrm>
            <a:off x="1178316" y="5026992"/>
            <a:ext cx="4409683" cy="105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将气体通入澄清石灰水中，若澄清石灰水变浑浊，证明是</a:t>
            </a:r>
            <a:r>
              <a:rPr lang="zh-CN" altLang="en-US" sz="2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</a:t>
            </a:r>
            <a:r>
              <a:rPr lang="zh-CN" altLang="en-US" sz="2200" baseline="-25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0E1E25-58C8-B94F-BFB4-320C8270B906}"/>
              </a:ext>
            </a:extLst>
          </p:cNvPr>
          <p:cNvSpPr/>
          <p:nvPr/>
        </p:nvSpPr>
        <p:spPr>
          <a:xfrm>
            <a:off x="6477015" y="5043745"/>
            <a:ext cx="4536668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将燃着的木条放在集气瓶口，若木条熄灭，证明已收集满。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AB22E20-2DAE-4F48-842C-0AE93F6CE175}"/>
              </a:ext>
            </a:extLst>
          </p:cNvPr>
          <p:cNvGrpSpPr/>
          <p:nvPr/>
        </p:nvGrpSpPr>
        <p:grpSpPr>
          <a:xfrm>
            <a:off x="1960930" y="1258279"/>
            <a:ext cx="2272611" cy="3642527"/>
            <a:chOff x="1750749" y="763853"/>
            <a:chExt cx="2272611" cy="3642527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2D2A743A-ECD4-8347-96DE-52B9BF422928}"/>
                </a:ext>
              </a:extLst>
            </p:cNvPr>
            <p:cNvSpPr/>
            <p:nvPr/>
          </p:nvSpPr>
          <p:spPr>
            <a:xfrm>
              <a:off x="1750749" y="1678315"/>
              <a:ext cx="2272611" cy="272806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34CC68E-57D8-7546-B0F1-92A0CB8E9C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224"/>
            <a:stretch/>
          </p:blipFill>
          <p:spPr>
            <a:xfrm>
              <a:off x="2272191" y="763853"/>
              <a:ext cx="1589592" cy="3274751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9576866-52D5-5949-9E90-E6109482C1EB}"/>
                </a:ext>
              </a:extLst>
            </p:cNvPr>
            <p:cNvSpPr txBox="1"/>
            <p:nvPr/>
          </p:nvSpPr>
          <p:spPr>
            <a:xfrm>
              <a:off x="2666481" y="4038604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检验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DFC758-E8BC-2E46-9893-3248EDA534DA}"/>
              </a:ext>
            </a:extLst>
          </p:cNvPr>
          <p:cNvGrpSpPr/>
          <p:nvPr/>
        </p:nvGrpSpPr>
        <p:grpSpPr>
          <a:xfrm>
            <a:off x="7398411" y="2262223"/>
            <a:ext cx="2272611" cy="2728065"/>
            <a:chOff x="7398411" y="2262223"/>
            <a:chExt cx="2272611" cy="272806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94856B5-BF60-514F-BCEA-0ACD4E5E15DC}"/>
                </a:ext>
              </a:extLst>
            </p:cNvPr>
            <p:cNvGrpSpPr/>
            <p:nvPr/>
          </p:nvGrpSpPr>
          <p:grpSpPr>
            <a:xfrm>
              <a:off x="7398411" y="2262223"/>
              <a:ext cx="2272611" cy="2728065"/>
              <a:chOff x="7398411" y="2262223"/>
              <a:chExt cx="2272611" cy="2728065"/>
            </a:xfrm>
          </p:grpSpPr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099196C3-04E9-DD47-936A-420DF8FF7591}"/>
                  </a:ext>
                </a:extLst>
              </p:cNvPr>
              <p:cNvSpPr/>
              <p:nvPr/>
            </p:nvSpPr>
            <p:spPr>
              <a:xfrm>
                <a:off x="7398411" y="2262223"/>
                <a:ext cx="2272611" cy="272806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E447B6CE-5A85-C746-9C4E-B1687BE29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5776" y="2710680"/>
                <a:ext cx="1458951" cy="1676241"/>
              </a:xfrm>
              <a:prstGeom prst="rect">
                <a:avLst/>
              </a:prstGeom>
            </p:spPr>
          </p:pic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16DCF8C-B708-1A4D-9030-5A3787A7A73A}"/>
                </a:ext>
              </a:extLst>
            </p:cNvPr>
            <p:cNvSpPr txBox="1"/>
            <p:nvPr/>
          </p:nvSpPr>
          <p:spPr>
            <a:xfrm>
              <a:off x="8314142" y="4565494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19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3EF7E86-97A3-8D4C-A611-89A48E91E5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8316" y="654204"/>
            <a:ext cx="6096243" cy="639763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四、实验室制取气体的一般思路和方法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63C2BD4-C507-A24C-BFAB-CE1CE6DA8649}"/>
              </a:ext>
            </a:extLst>
          </p:cNvPr>
          <p:cNvSpPr/>
          <p:nvPr/>
        </p:nvSpPr>
        <p:spPr>
          <a:xfrm>
            <a:off x="3650951" y="1933820"/>
            <a:ext cx="4741209" cy="2424035"/>
          </a:xfrm>
          <a:prstGeom prst="roundRect">
            <a:avLst>
              <a:gd name="adj" fmla="val 13771"/>
            </a:avLst>
          </a:prstGeom>
          <a:solidFill>
            <a:schemeClr val="bg1">
              <a:lumMod val="65000"/>
              <a:alpha val="30000"/>
            </a:schemeClr>
          </a:solidFill>
        </p:spPr>
        <p:txBody>
          <a:bodyPr rot="0" spcFirstLastPara="0" vertOverflow="overflow" horzOverflow="overflow" vert="horz" wrap="square" lIns="91440" tIns="36000" rIns="91440" bIns="108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确定制取气体的反应原理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确定制取气体时的实验装置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确定如何验证所制取的气体</a:t>
            </a:r>
          </a:p>
        </p:txBody>
      </p:sp>
    </p:spTree>
    <p:extLst>
      <p:ext uri="{BB962C8B-B14F-4D97-AF65-F5344CB8AC3E}">
        <p14:creationId xmlns:p14="http://schemas.microsoft.com/office/powerpoint/2010/main" val="331616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46640DE-CB0A-F648-A030-CACB431596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606576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五、实验室制取</a:t>
            </a:r>
            <a:r>
              <a:rPr lang="en-US" altLang="zh-CN" dirty="0"/>
              <a:t>CO</a:t>
            </a:r>
            <a:r>
              <a:rPr lang="en-US" altLang="zh-CN" baseline="-25000" dirty="0"/>
              <a:t>2</a:t>
            </a:r>
            <a:r>
              <a:rPr lang="zh-CN" altLang="en-US" dirty="0"/>
              <a:t>的步骤</a:t>
            </a:r>
          </a:p>
          <a:p>
            <a:endParaRPr kumimoji="1" lang="zh-CN" altLang="en-US" dirty="0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6CF229D5-6529-104B-81E2-850945E3FB56}"/>
              </a:ext>
            </a:extLst>
          </p:cNvPr>
          <p:cNvSpPr/>
          <p:nvPr/>
        </p:nvSpPr>
        <p:spPr>
          <a:xfrm rot="2700000">
            <a:off x="8119170" y="-707327"/>
            <a:ext cx="4032725" cy="86777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4A663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2D4C3B-446B-5347-A394-1EE6C8607AA3}"/>
              </a:ext>
            </a:extLst>
          </p:cNvPr>
          <p:cNvSpPr/>
          <p:nvPr/>
        </p:nvSpPr>
        <p:spPr>
          <a:xfrm>
            <a:off x="2158805" y="2233025"/>
            <a:ext cx="2716726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连接仪器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检查装置气密性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装入大理石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加入稀盐酸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收集气体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683D90-9872-CE46-A268-3CCD74D898CD}"/>
              </a:ext>
            </a:extLst>
          </p:cNvPr>
          <p:cNvGrpSpPr/>
          <p:nvPr/>
        </p:nvGrpSpPr>
        <p:grpSpPr>
          <a:xfrm>
            <a:off x="4634579" y="1293967"/>
            <a:ext cx="6430152" cy="6053103"/>
            <a:chOff x="4634579" y="1293967"/>
            <a:chExt cx="6430152" cy="605310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B3EB975-F1BE-EB4B-992C-962D2F1F8395}"/>
                </a:ext>
              </a:extLst>
            </p:cNvPr>
            <p:cNvGrpSpPr/>
            <p:nvPr/>
          </p:nvGrpSpPr>
          <p:grpSpPr>
            <a:xfrm>
              <a:off x="4634579" y="1293967"/>
              <a:ext cx="6430152" cy="6053103"/>
              <a:chOff x="4506570" y="1064754"/>
              <a:chExt cx="6430152" cy="6053103"/>
            </a:xfrm>
          </p:grpSpPr>
          <p:pic>
            <p:nvPicPr>
              <p:cNvPr id="5" name="Picture 2">
                <a:extLst>
                  <a:ext uri="{FF2B5EF4-FFF2-40B4-BE49-F238E27FC236}">
                    <a16:creationId xmlns:a16="http://schemas.microsoft.com/office/drawing/2014/main" id="{B8C8CF85-3365-D742-BD6A-B22E68B81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506570" y="1064754"/>
                <a:ext cx="6430152" cy="6053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1270000" dist="1397000" sx="80000" sy="80000" algn="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7A68D725-B4C1-EF43-8BD0-7891E61E6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7290" y="1801521"/>
                <a:ext cx="5376852" cy="3024479"/>
              </a:xfrm>
              <a:prstGeom prst="rect">
                <a:avLst/>
              </a:prstGeom>
            </p:spPr>
          </p:pic>
          <p:pic>
            <p:nvPicPr>
              <p:cNvPr id="7" name="图片 6">
                <a:hlinkClick r:id="rId4"/>
                <a:extLst>
                  <a:ext uri="{FF2B5EF4-FFF2-40B4-BE49-F238E27FC236}">
                    <a16:creationId xmlns:a16="http://schemas.microsoft.com/office/drawing/2014/main" id="{28DBA391-09A9-6A4B-9B4D-B48FABFB4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4202" y="3014054"/>
                <a:ext cx="863029" cy="863029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8DB6EF0-281C-764B-80DE-152B9C2C3484}"/>
                  </a:ext>
                </a:extLst>
              </p:cNvPr>
              <p:cNvSpPr txBox="1"/>
              <p:nvPr/>
            </p:nvSpPr>
            <p:spPr>
              <a:xfrm>
                <a:off x="5304597" y="1954725"/>
                <a:ext cx="1569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>
                    <a:solidFill>
                      <a:schemeClr val="bg1">
                        <a:lumMod val="9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实验室制取二氧化碳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A9556AF-2368-B747-909E-F2460AF96F87}"/>
                </a:ext>
              </a:extLst>
            </p:cNvPr>
            <p:cNvSpPr txBox="1"/>
            <p:nvPr/>
          </p:nvSpPr>
          <p:spPr>
            <a:xfrm>
              <a:off x="5245299" y="4716083"/>
              <a:ext cx="5376852" cy="338554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            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需要完整免费素材，请</a:t>
              </a:r>
              <a:r>
                <a:rPr kumimoji="1" lang="zh-CN" altLang="en-US" sz="1400" dirty="0">
                  <a:solidFill>
                    <a:srgbClr val="F4A66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点击上方按钮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下载火花插件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17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B5047B-6B7B-4C4A-AEDA-D5368FF9B9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4328403" cy="6397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</a:rPr>
              <a:t>检查装置气密性的方法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A27F9-E5AC-AA48-89D0-A8EA913B962E}"/>
              </a:ext>
            </a:extLst>
          </p:cNvPr>
          <p:cNvSpPr/>
          <p:nvPr/>
        </p:nvSpPr>
        <p:spPr>
          <a:xfrm>
            <a:off x="1084823" y="2368900"/>
            <a:ext cx="4133129" cy="257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）微热法（热胀冷缩法）：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先将导管一端伸入水中，然后用手紧握试管，如果导管口有气泡冒出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松开手后，导管内形成一段水柱，说明装置气密性良好。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9D8AE34-C5BF-1E44-9860-11EB11A47EFE}"/>
              </a:ext>
            </a:extLst>
          </p:cNvPr>
          <p:cNvGrpSpPr/>
          <p:nvPr/>
        </p:nvGrpSpPr>
        <p:grpSpPr>
          <a:xfrm>
            <a:off x="6400799" y="1814333"/>
            <a:ext cx="4643121" cy="3680800"/>
            <a:chOff x="5506719" y="1940560"/>
            <a:chExt cx="4643121" cy="3680800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DB92ED31-6F44-C943-94C8-362CDF4C391D}"/>
                </a:ext>
              </a:extLst>
            </p:cNvPr>
            <p:cNvSpPr/>
            <p:nvPr/>
          </p:nvSpPr>
          <p:spPr>
            <a:xfrm>
              <a:off x="5506719" y="1940560"/>
              <a:ext cx="4643121" cy="3680800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F288989-53BE-0F44-99D7-7B6AF32DC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8630" y="2562095"/>
              <a:ext cx="3430650" cy="2574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337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B5047B-6B7B-4C4A-AEDA-D5368FF9B9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4328403" cy="6397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</a:rPr>
              <a:t>检查装置气密性的方法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A27F9-E5AC-AA48-89D0-A8EA913B962E}"/>
              </a:ext>
            </a:extLst>
          </p:cNvPr>
          <p:cNvSpPr/>
          <p:nvPr/>
        </p:nvSpPr>
        <p:spPr>
          <a:xfrm>
            <a:off x="1317925" y="2113649"/>
            <a:ext cx="4420145" cy="3079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）注水法（液差法）：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关闭弹簧夹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向长颈漏斗中不断加水，使漏斗下端浸入水中，继续加水，长颈漏斗下端形成一段水柱，产生液面差，一段时间后，液面差仍保持不变，说明装置气密性良好。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B92ED31-6F44-C943-94C8-362CDF4C391D}"/>
              </a:ext>
            </a:extLst>
          </p:cNvPr>
          <p:cNvSpPr/>
          <p:nvPr/>
        </p:nvSpPr>
        <p:spPr>
          <a:xfrm>
            <a:off x="7022223" y="1814333"/>
            <a:ext cx="3616961" cy="368080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50E90D-7F15-BA47-A7D2-58F29E277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504" y="2334375"/>
            <a:ext cx="1447415" cy="287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4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B5047B-6B7B-4C4A-AEDA-D5368FF9B9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4328403" cy="6397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</a:rPr>
              <a:t>检查装置气密性的方法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A27F9-E5AC-AA48-89D0-A8EA913B962E}"/>
              </a:ext>
            </a:extLst>
          </p:cNvPr>
          <p:cNvSpPr/>
          <p:nvPr/>
        </p:nvSpPr>
        <p:spPr>
          <a:xfrm>
            <a:off x="1356395" y="2023543"/>
            <a:ext cx="4398452" cy="3079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）打气与抽气法：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①注射器 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分液漏斗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关闭分液漏斗活塞，然后把注射器活塞向外拉一段距离，松手后，如果注射器活塞能回到原处，说明装置气密性良好。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E53946D-A648-FC47-BC73-ADB98BED7373}"/>
              </a:ext>
            </a:extLst>
          </p:cNvPr>
          <p:cNvGrpSpPr/>
          <p:nvPr/>
        </p:nvGrpSpPr>
        <p:grpSpPr>
          <a:xfrm>
            <a:off x="6912155" y="1722892"/>
            <a:ext cx="3616961" cy="3680800"/>
            <a:chOff x="6543039" y="1722893"/>
            <a:chExt cx="3616961" cy="3680800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DB92ED31-6F44-C943-94C8-362CDF4C391D}"/>
                </a:ext>
              </a:extLst>
            </p:cNvPr>
            <p:cNvSpPr/>
            <p:nvPr/>
          </p:nvSpPr>
          <p:spPr>
            <a:xfrm>
              <a:off x="6543039" y="1722893"/>
              <a:ext cx="3616961" cy="3680800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6F5C56E-F055-CF4C-BF65-21C5ED065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6290" y="2322471"/>
              <a:ext cx="2526030" cy="2508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135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B5047B-6B7B-4C4A-AEDA-D5368FF9B9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>
                <a:latin typeface="等线" panose="02010600030101010101" pitchFamily="2" charset="-122"/>
              </a:rPr>
              <a:t>检查装置气密性的方法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A27F9-E5AC-AA48-89D0-A8EA913B962E}"/>
              </a:ext>
            </a:extLst>
          </p:cNvPr>
          <p:cNvSpPr/>
          <p:nvPr/>
        </p:nvSpPr>
        <p:spPr>
          <a:xfrm>
            <a:off x="1351480" y="1613370"/>
            <a:ext cx="4167897" cy="409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②注射器 </a:t>
            </a:r>
            <a:r>
              <a:rPr kumimoji="1"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长颈漏斗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向长颈漏斗中不断加水，直至长颈漏斗下端浸入水中。若向外拉注射器活塞，长颈漏斗下端有气泡冒出，说明装置气密性良好。</a:t>
            </a:r>
          </a:p>
          <a:p>
            <a:pPr>
              <a:lnSpc>
                <a:spcPct val="150000"/>
              </a:lnSpc>
            </a:pPr>
            <a:r>
              <a:rPr kumimoji="1"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若向里推注射器活塞，在长颈漏斗内形成一段稳定的水柱，说明装置气密性良好。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61DB7D1-4FB3-4F47-AB89-E80C2F084C71}"/>
              </a:ext>
            </a:extLst>
          </p:cNvPr>
          <p:cNvGrpSpPr/>
          <p:nvPr/>
        </p:nvGrpSpPr>
        <p:grpSpPr>
          <a:xfrm>
            <a:off x="6736079" y="654204"/>
            <a:ext cx="3352801" cy="2595363"/>
            <a:chOff x="6736079" y="654204"/>
            <a:chExt cx="3352801" cy="2595363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DB92ED31-6F44-C943-94C8-362CDF4C391D}"/>
                </a:ext>
              </a:extLst>
            </p:cNvPr>
            <p:cNvSpPr/>
            <p:nvPr/>
          </p:nvSpPr>
          <p:spPr>
            <a:xfrm>
              <a:off x="6736079" y="654204"/>
              <a:ext cx="3352801" cy="2595363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DDE8739-2F32-3144-8461-535E7647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7746" y="1190421"/>
              <a:ext cx="2574526" cy="1790233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FD397E9-20BB-4563-B7C1-AEE00D163D1B}"/>
              </a:ext>
            </a:extLst>
          </p:cNvPr>
          <p:cNvGrpSpPr/>
          <p:nvPr/>
        </p:nvGrpSpPr>
        <p:grpSpPr>
          <a:xfrm>
            <a:off x="6807199" y="3453680"/>
            <a:ext cx="3352801" cy="2595363"/>
            <a:chOff x="6807199" y="3453680"/>
            <a:chExt cx="3352801" cy="2595363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34F27476-0232-7E45-ABCC-DBD8B901C98C}"/>
                </a:ext>
              </a:extLst>
            </p:cNvPr>
            <p:cNvSpPr/>
            <p:nvPr/>
          </p:nvSpPr>
          <p:spPr>
            <a:xfrm>
              <a:off x="6807199" y="3453680"/>
              <a:ext cx="3352801" cy="2595363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C468320-04D3-4ED8-9EBD-36AD997F3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7900" y="3869966"/>
              <a:ext cx="2640212" cy="1838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58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583AB1-5B9A-6B4A-84DD-A1E9804F34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8316" y="654204"/>
            <a:ext cx="4348723" cy="639763"/>
          </a:xfrm>
        </p:spPr>
        <p:txBody>
          <a:bodyPr>
            <a:normAutofit/>
          </a:bodyPr>
          <a:lstStyle/>
          <a:p>
            <a:r>
              <a:rPr lang="zh-CN" altLang="en-US" dirty="0"/>
              <a:t>六、</a:t>
            </a:r>
            <a:r>
              <a:rPr lang="en-US" altLang="zh-CN" dirty="0"/>
              <a:t>CO</a:t>
            </a:r>
            <a:r>
              <a:rPr lang="en-US" altLang="zh-CN" baseline="-25000" dirty="0"/>
              <a:t>2</a:t>
            </a:r>
            <a:r>
              <a:rPr lang="zh-CN" altLang="en-US" dirty="0"/>
              <a:t>的工业制法</a:t>
            </a:r>
          </a:p>
          <a:p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75D06A-0EB4-524A-A618-A41E6BAED28C}"/>
              </a:ext>
            </a:extLst>
          </p:cNvPr>
          <p:cNvSpPr/>
          <p:nvPr/>
        </p:nvSpPr>
        <p:spPr>
          <a:xfrm>
            <a:off x="2454970" y="1739216"/>
            <a:ext cx="2729426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高温煅烧石灰石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0BE687-9B8F-214A-A61F-CE9E33B5431D}"/>
              </a:ext>
            </a:extLst>
          </p:cNvPr>
          <p:cNvGrpSpPr/>
          <p:nvPr/>
        </p:nvGrpSpPr>
        <p:grpSpPr>
          <a:xfrm>
            <a:off x="2454970" y="2510785"/>
            <a:ext cx="3933246" cy="634413"/>
            <a:chOff x="2454970" y="2498022"/>
            <a:chExt cx="3933246" cy="6344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C20D315-9B74-2B48-8E2F-158AFDE00C3C}"/>
                </a:ext>
              </a:extLst>
            </p:cNvPr>
            <p:cNvSpPr/>
            <p:nvPr/>
          </p:nvSpPr>
          <p:spPr>
            <a:xfrm>
              <a:off x="2454970" y="2542402"/>
              <a:ext cx="3933246" cy="5900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altLang="zh-CN" sz="24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CN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CaO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4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8CF07F1-6DC3-294A-8E5B-1EC7EDADFC9B}"/>
                </a:ext>
              </a:extLst>
            </p:cNvPr>
            <p:cNvCxnSpPr/>
            <p:nvPr/>
          </p:nvCxnSpPr>
          <p:spPr>
            <a:xfrm>
              <a:off x="3514019" y="2916845"/>
              <a:ext cx="553673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C48BF19-5C0D-244D-A2EE-E2CA2A5B31FF}"/>
                </a:ext>
              </a:extLst>
            </p:cNvPr>
            <p:cNvCxnSpPr/>
            <p:nvPr/>
          </p:nvCxnSpPr>
          <p:spPr>
            <a:xfrm>
              <a:off x="3514019" y="2971653"/>
              <a:ext cx="553673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0BF4BF5-EE3B-8A4D-B6ED-04FEC2F81AED}"/>
                </a:ext>
              </a:extLst>
            </p:cNvPr>
            <p:cNvSpPr/>
            <p:nvPr/>
          </p:nvSpPr>
          <p:spPr>
            <a:xfrm>
              <a:off x="3449764" y="2498022"/>
              <a:ext cx="739837" cy="465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高温</a:t>
              </a:r>
            </a:p>
          </p:txBody>
        </p:sp>
        <p:cxnSp>
          <p:nvCxnSpPr>
            <p:cNvPr id="9" name="直接箭头连接符 9">
              <a:extLst>
                <a:ext uri="{FF2B5EF4-FFF2-40B4-BE49-F238E27FC236}">
                  <a16:creationId xmlns:a16="http://schemas.microsoft.com/office/drawing/2014/main" id="{524B3C62-CE16-2C47-9F39-24D19BD5EEE9}"/>
                </a:ext>
              </a:extLst>
            </p:cNvPr>
            <p:cNvCxnSpPr/>
            <p:nvPr/>
          </p:nvCxnSpPr>
          <p:spPr>
            <a:xfrm flipV="1">
              <a:off x="5705782" y="2730842"/>
              <a:ext cx="0" cy="343948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8">
            <a:extLst>
              <a:ext uri="{FF2B5EF4-FFF2-40B4-BE49-F238E27FC236}">
                <a16:creationId xmlns:a16="http://schemas.microsoft.com/office/drawing/2014/main" id="{8575E494-C8E6-3E4C-85BD-AB26BA5A3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12555" y1="28542" x2="12555" y2="28542"/>
                        <a14:foregroundMark x1="12112" y1="59548" x2="12112" y2="59548"/>
                        <a14:foregroundMark x1="25111" y1="85216" x2="25111" y2="85216"/>
                        <a14:foregroundMark x1="59380" y1="88090" x2="59380" y2="88090"/>
                        <a14:foregroundMark x1="78434" y1="80082" x2="78434" y2="80082"/>
                        <a14:foregroundMark x1="87001" y1="21971" x2="87001" y2="219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379" y="1988996"/>
            <a:ext cx="4056286" cy="291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09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B9C62D08-FEAF-7B41-97D3-496F9A407A6C}"/>
              </a:ext>
            </a:extLst>
          </p:cNvPr>
          <p:cNvSpPr txBox="1"/>
          <p:nvPr/>
        </p:nvSpPr>
        <p:spPr>
          <a:xfrm>
            <a:off x="1178317" y="1351218"/>
            <a:ext cx="9409922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在实验操作考查中，小明抽到的题目是“二氧化碳的制取、收集和验满”，如图是他的主要实验步骤，其中操作有误的是（      ）</a:t>
            </a:r>
          </a:p>
        </p:txBody>
      </p:sp>
      <p:sp>
        <p:nvSpPr>
          <p:cNvPr id="62" name="Rounded Rectangle 3"/>
          <p:cNvSpPr/>
          <p:nvPr/>
        </p:nvSpPr>
        <p:spPr>
          <a:xfrm rot="2700000">
            <a:off x="11664009" y="325043"/>
            <a:ext cx="4032725" cy="86777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4A663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zh-CN" altLang="en-US" dirty="0"/>
              <a:t>随堂练习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99F7A8-A55B-B645-838C-CA717C6B019C}"/>
              </a:ext>
            </a:extLst>
          </p:cNvPr>
          <p:cNvSpPr txBox="1"/>
          <p:nvPr/>
        </p:nvSpPr>
        <p:spPr>
          <a:xfrm>
            <a:off x="7145667" y="1953733"/>
            <a:ext cx="38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F4A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endParaRPr kumimoji="1" lang="zh-CN" altLang="en-US" sz="2400" dirty="0">
              <a:solidFill>
                <a:srgbClr val="F4A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23ABB0C-C76A-BE47-927F-7EAB739C49BF}"/>
              </a:ext>
            </a:extLst>
          </p:cNvPr>
          <p:cNvGrpSpPr/>
          <p:nvPr/>
        </p:nvGrpSpPr>
        <p:grpSpPr>
          <a:xfrm>
            <a:off x="3936801" y="2732110"/>
            <a:ext cx="1762960" cy="2602727"/>
            <a:chOff x="3936801" y="2732110"/>
            <a:chExt cx="1762960" cy="260272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822CCC7-2D3F-7646-B2F7-69829905A86E}"/>
                </a:ext>
              </a:extLst>
            </p:cNvPr>
            <p:cNvGrpSpPr/>
            <p:nvPr/>
          </p:nvGrpSpPr>
          <p:grpSpPr>
            <a:xfrm>
              <a:off x="3936801" y="2732110"/>
              <a:ext cx="1762960" cy="1786479"/>
              <a:chOff x="3855521" y="2450242"/>
              <a:chExt cx="1762960" cy="1786479"/>
            </a:xfrm>
          </p:grpSpPr>
          <p:sp>
            <p:nvSpPr>
              <p:cNvPr id="29" name="圆角矩形 28">
                <a:extLst>
                  <a:ext uri="{FF2B5EF4-FFF2-40B4-BE49-F238E27FC236}">
                    <a16:creationId xmlns:a16="http://schemas.microsoft.com/office/drawing/2014/main" id="{02161DFC-8436-4541-9255-ABABE4164C3E}"/>
                  </a:ext>
                </a:extLst>
              </p:cNvPr>
              <p:cNvSpPr/>
              <p:nvPr/>
            </p:nvSpPr>
            <p:spPr>
              <a:xfrm>
                <a:off x="3855521" y="2450242"/>
                <a:ext cx="1762960" cy="1786479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3B37F922-657D-C749-9091-DF220EDA3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50514" y="2850827"/>
                <a:ext cx="972973" cy="1096611"/>
              </a:xfrm>
              <a:prstGeom prst="rect">
                <a:avLst/>
              </a:prstGeom>
            </p:spPr>
          </p:pic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7F87E11-13D6-AF4F-8B01-CE3CE05581BC}"/>
                </a:ext>
              </a:extLst>
            </p:cNvPr>
            <p:cNvSpPr/>
            <p:nvPr/>
          </p:nvSpPr>
          <p:spPr>
            <a:xfrm>
              <a:off x="4042869" y="4794496"/>
              <a:ext cx="1609131" cy="540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B.</a:t>
              </a:r>
              <a:r>
                <a:rPr kumimoji="1" lang="zh-CN" altLang="en-US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收集气体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72B5F5-3733-F94A-97F6-D60488996CB3}"/>
              </a:ext>
            </a:extLst>
          </p:cNvPr>
          <p:cNvGrpSpPr/>
          <p:nvPr/>
        </p:nvGrpSpPr>
        <p:grpSpPr>
          <a:xfrm>
            <a:off x="5910942" y="2732110"/>
            <a:ext cx="2431293" cy="2614263"/>
            <a:chOff x="5910942" y="2732110"/>
            <a:chExt cx="2431293" cy="261426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6FD2F1E-6EB4-8D45-AB9D-A214C441E64C}"/>
                </a:ext>
              </a:extLst>
            </p:cNvPr>
            <p:cNvGrpSpPr/>
            <p:nvPr/>
          </p:nvGrpSpPr>
          <p:grpSpPr>
            <a:xfrm>
              <a:off x="5958642" y="2732110"/>
              <a:ext cx="2116691" cy="1786479"/>
              <a:chOff x="5877362" y="2450242"/>
              <a:chExt cx="2116691" cy="1786479"/>
            </a:xfrm>
          </p:grpSpPr>
          <p:sp>
            <p:nvSpPr>
              <p:cNvPr id="37" name="圆角矩形 36">
                <a:extLst>
                  <a:ext uri="{FF2B5EF4-FFF2-40B4-BE49-F238E27FC236}">
                    <a16:creationId xmlns:a16="http://schemas.microsoft.com/office/drawing/2014/main" id="{A05CFF3F-D713-4E4C-A18E-F7EB89FCE443}"/>
                  </a:ext>
                </a:extLst>
              </p:cNvPr>
              <p:cNvSpPr/>
              <p:nvPr/>
            </p:nvSpPr>
            <p:spPr>
              <a:xfrm>
                <a:off x="5877362" y="2450242"/>
                <a:ext cx="2116691" cy="1786479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EA58342A-6B35-EC4F-94F0-7012451224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70287"/>
              <a:stretch/>
            </p:blipFill>
            <p:spPr>
              <a:xfrm>
                <a:off x="6013730" y="2502911"/>
                <a:ext cx="1795621" cy="1591730"/>
              </a:xfrm>
              <a:prstGeom prst="rect">
                <a:avLst/>
              </a:prstGeom>
            </p:spPr>
          </p:pic>
        </p:grp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0A8916A-9959-1842-A613-9F41B542F24D}"/>
                </a:ext>
              </a:extLst>
            </p:cNvPr>
            <p:cNvSpPr/>
            <p:nvPr/>
          </p:nvSpPr>
          <p:spPr>
            <a:xfrm>
              <a:off x="5910942" y="4806032"/>
              <a:ext cx="2431293" cy="540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C.</a:t>
              </a:r>
              <a:r>
                <a:rPr kumimoji="1" lang="zh-CN" altLang="en-US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检查装置气密性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DEA9672-B941-5042-9EC9-6476B39C3E1F}"/>
              </a:ext>
            </a:extLst>
          </p:cNvPr>
          <p:cNvGrpSpPr/>
          <p:nvPr/>
        </p:nvGrpSpPr>
        <p:grpSpPr>
          <a:xfrm>
            <a:off x="8342236" y="2732110"/>
            <a:ext cx="2116691" cy="2595822"/>
            <a:chOff x="8342236" y="2732110"/>
            <a:chExt cx="2116691" cy="259582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D1F89FA-13A4-054F-93EE-78F8E677D1AA}"/>
                </a:ext>
              </a:extLst>
            </p:cNvPr>
            <p:cNvGrpSpPr/>
            <p:nvPr/>
          </p:nvGrpSpPr>
          <p:grpSpPr>
            <a:xfrm>
              <a:off x="8342236" y="2732110"/>
              <a:ext cx="2116691" cy="1786479"/>
              <a:chOff x="8260956" y="2450242"/>
              <a:chExt cx="2116691" cy="1786479"/>
            </a:xfrm>
          </p:grpSpPr>
          <p:sp>
            <p:nvSpPr>
              <p:cNvPr id="38" name="圆角矩形 37">
                <a:extLst>
                  <a:ext uri="{FF2B5EF4-FFF2-40B4-BE49-F238E27FC236}">
                    <a16:creationId xmlns:a16="http://schemas.microsoft.com/office/drawing/2014/main" id="{46B678C1-B151-9641-9F06-A82543B70B22}"/>
                  </a:ext>
                </a:extLst>
              </p:cNvPr>
              <p:cNvSpPr/>
              <p:nvPr/>
            </p:nvSpPr>
            <p:spPr>
              <a:xfrm>
                <a:off x="8260956" y="2450242"/>
                <a:ext cx="2116691" cy="1786479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F0B247F4-073F-7046-B8A1-3C41D17E72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1545" y="2753773"/>
                <a:ext cx="818350" cy="1313784"/>
              </a:xfrm>
              <a:prstGeom prst="rect">
                <a:avLst/>
              </a:prstGeom>
            </p:spPr>
          </p:pic>
        </p:grp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9774EA2-A2F0-7B43-A5EE-9F4C5AEC9259}"/>
                </a:ext>
              </a:extLst>
            </p:cNvPr>
            <p:cNvSpPr/>
            <p:nvPr/>
          </p:nvSpPr>
          <p:spPr>
            <a:xfrm>
              <a:off x="8900419" y="4787591"/>
              <a:ext cx="1106044" cy="540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D.</a:t>
              </a:r>
              <a:r>
                <a:rPr kumimoji="1" lang="zh-CN" altLang="en-US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验满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A449EC3-3FCE-F844-9A90-C9483EE6F856}"/>
              </a:ext>
            </a:extLst>
          </p:cNvPr>
          <p:cNvGrpSpPr/>
          <p:nvPr/>
        </p:nvGrpSpPr>
        <p:grpSpPr>
          <a:xfrm>
            <a:off x="1338971" y="2732110"/>
            <a:ext cx="2338949" cy="2602727"/>
            <a:chOff x="1338971" y="2732110"/>
            <a:chExt cx="2338949" cy="2602727"/>
          </a:xfrm>
        </p:grpSpPr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F8152A47-07C9-364B-9DBD-438F55A8DDE2}"/>
                </a:ext>
              </a:extLst>
            </p:cNvPr>
            <p:cNvSpPr/>
            <p:nvPr/>
          </p:nvSpPr>
          <p:spPr>
            <a:xfrm>
              <a:off x="1338971" y="2732110"/>
              <a:ext cx="2338949" cy="178647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6572B41-2128-EF4C-9750-D144CAB989F4}"/>
                </a:ext>
              </a:extLst>
            </p:cNvPr>
            <p:cNvSpPr/>
            <p:nvPr/>
          </p:nvSpPr>
          <p:spPr>
            <a:xfrm>
              <a:off x="1696255" y="4794496"/>
              <a:ext cx="1757164" cy="540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A.</a:t>
              </a:r>
              <a:r>
                <a:rPr kumimoji="1" lang="zh-CN" altLang="en-US" sz="2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加入药品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71FB456-CE7B-E942-B2DF-AAA6B3143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0626" y="2813735"/>
              <a:ext cx="1188423" cy="1535690"/>
            </a:xfrm>
            <a:prstGeom prst="rect">
              <a:avLst/>
            </a:prstGeom>
          </p:spPr>
        </p:pic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EBE691E0-7FDF-4494-BC4C-93F957DBE8C7}"/>
              </a:ext>
            </a:extLst>
          </p:cNvPr>
          <p:cNvSpPr/>
          <p:nvPr/>
        </p:nvSpPr>
        <p:spPr>
          <a:xfrm>
            <a:off x="8872825" y="4916193"/>
            <a:ext cx="1094135" cy="377863"/>
          </a:xfrm>
          <a:prstGeom prst="rect">
            <a:avLst/>
          </a:prstGeom>
          <a:solidFill>
            <a:srgbClr val="FE570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481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B9C62D08-FEAF-7B41-97D3-496F9A407A6C}"/>
              </a:ext>
            </a:extLst>
          </p:cNvPr>
          <p:cNvSpPr txBox="1"/>
          <p:nvPr/>
        </p:nvSpPr>
        <p:spPr>
          <a:xfrm>
            <a:off x="1930157" y="1915008"/>
            <a:ext cx="8846090" cy="257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、水垢是由氢氧化镁和碳酸钙为主要成分组成的混合物，欲证明水垢中有碳酸钙，所需要的化学试剂是（     ）</a:t>
            </a: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澄清石灰水和氧气                  </a:t>
            </a: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盐酸和澄清石灰水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二氧化碳和水                         </a:t>
            </a:r>
            <a:r>
              <a:rPr lang="en-US" altLang="zh-CN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D. </a:t>
            </a:r>
            <a:r>
              <a:rPr lang="zh-CN" altLang="en-US" sz="2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生石灰和水</a:t>
            </a:r>
          </a:p>
        </p:txBody>
      </p:sp>
      <p:sp>
        <p:nvSpPr>
          <p:cNvPr id="62" name="Rounded Rectangle 3"/>
          <p:cNvSpPr/>
          <p:nvPr/>
        </p:nvSpPr>
        <p:spPr>
          <a:xfrm rot="2700000">
            <a:off x="11664009" y="325043"/>
            <a:ext cx="4032725" cy="86777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4A663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zh-CN" altLang="en-US" dirty="0"/>
              <a:t>随堂练习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2717848-5309-E542-ACEA-8217DA00CE77}"/>
              </a:ext>
            </a:extLst>
          </p:cNvPr>
          <p:cNvGrpSpPr/>
          <p:nvPr/>
        </p:nvGrpSpPr>
        <p:grpSpPr>
          <a:xfrm>
            <a:off x="6005599" y="2537191"/>
            <a:ext cx="2685473" cy="1403334"/>
            <a:chOff x="5159756" y="1676731"/>
            <a:chExt cx="2685473" cy="140333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CE087CF-046E-744B-BFB3-FD5A248CE3ED}"/>
                </a:ext>
              </a:extLst>
            </p:cNvPr>
            <p:cNvSpPr/>
            <p:nvPr/>
          </p:nvSpPr>
          <p:spPr>
            <a:xfrm>
              <a:off x="5159756" y="2702202"/>
              <a:ext cx="2685473" cy="377863"/>
            </a:xfrm>
            <a:prstGeom prst="rect">
              <a:avLst/>
            </a:prstGeom>
            <a:solidFill>
              <a:srgbClr val="FE5702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099F7A8-A55B-B645-838C-CA717C6B019C}"/>
                </a:ext>
              </a:extLst>
            </p:cNvPr>
            <p:cNvSpPr txBox="1"/>
            <p:nvPr/>
          </p:nvSpPr>
          <p:spPr>
            <a:xfrm>
              <a:off x="5661130" y="1676731"/>
              <a:ext cx="388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F4A66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</a:t>
              </a:r>
              <a:endParaRPr kumimoji="1" lang="zh-CN" altLang="en-US" sz="2400" dirty="0">
                <a:solidFill>
                  <a:srgbClr val="F4A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202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9D59B145-D72E-4449-A997-4D64951A956E}"/>
              </a:ext>
            </a:extLst>
          </p:cNvPr>
          <p:cNvGrpSpPr/>
          <p:nvPr/>
        </p:nvGrpSpPr>
        <p:grpSpPr>
          <a:xfrm>
            <a:off x="5388929" y="1178076"/>
            <a:ext cx="6191828" cy="3883584"/>
            <a:chOff x="5169934" y="1790326"/>
            <a:chExt cx="6191828" cy="3883584"/>
          </a:xfrm>
        </p:grpSpPr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9FA0AD62-11F4-BA46-BF73-5F8CD246BA28}"/>
                </a:ext>
              </a:extLst>
            </p:cNvPr>
            <p:cNvCxnSpPr>
              <a:cxnSpLocks/>
              <a:stCxn id="36" idx="3"/>
              <a:endCxn id="20" idx="1"/>
            </p:cNvCxnSpPr>
            <p:nvPr/>
          </p:nvCxnSpPr>
          <p:spPr>
            <a:xfrm flipV="1">
              <a:off x="5169934" y="1974992"/>
              <a:ext cx="774498" cy="119063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F38F5E03-F94B-EC4D-8949-4293E19235F3}"/>
                </a:ext>
              </a:extLst>
            </p:cNvPr>
            <p:cNvCxnSpPr>
              <a:cxnSpLocks/>
              <a:stCxn id="36" idx="3"/>
              <a:endCxn id="25" idx="1"/>
            </p:cNvCxnSpPr>
            <p:nvPr/>
          </p:nvCxnSpPr>
          <p:spPr>
            <a:xfrm flipV="1">
              <a:off x="5169934" y="2365066"/>
              <a:ext cx="753976" cy="80055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5944432" y="1790326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实验药品：稀盐酸与大理石或石灰石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923910" y="218040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实验原理：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0B84750-1DDF-B742-82D7-AF4B2FA3B2F9}"/>
                </a:ext>
              </a:extLst>
            </p:cNvPr>
            <p:cNvSpPr txBox="1"/>
            <p:nvPr/>
          </p:nvSpPr>
          <p:spPr>
            <a:xfrm>
              <a:off x="5972241" y="2640207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实验装置：固液混合不加热型</a:t>
              </a:r>
            </a:p>
          </p:txBody>
        </p: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B6933A49-E5C3-5D4D-AE02-82C133074898}"/>
                </a:ext>
              </a:extLst>
            </p:cNvPr>
            <p:cNvCxnSpPr>
              <a:cxnSpLocks/>
              <a:stCxn id="36" idx="3"/>
              <a:endCxn id="52" idx="1"/>
            </p:cNvCxnSpPr>
            <p:nvPr/>
          </p:nvCxnSpPr>
          <p:spPr>
            <a:xfrm flipV="1">
              <a:off x="5169934" y="2824873"/>
              <a:ext cx="802307" cy="34075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1E41D7-C082-F84E-B447-7CF99FD531BC}"/>
                </a:ext>
              </a:extLst>
            </p:cNvPr>
            <p:cNvSpPr txBox="1"/>
            <p:nvPr/>
          </p:nvSpPr>
          <p:spPr>
            <a:xfrm>
              <a:off x="5972241" y="3285619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收集装置：向上排空气法</a:t>
              </a:r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C62D2D2C-F7BC-4243-8476-B0AD92D89F6F}"/>
                </a:ext>
              </a:extLst>
            </p:cNvPr>
            <p:cNvCxnSpPr>
              <a:cxnSpLocks/>
              <a:stCxn id="36" idx="3"/>
              <a:endCxn id="65" idx="1"/>
            </p:cNvCxnSpPr>
            <p:nvPr/>
          </p:nvCxnSpPr>
          <p:spPr>
            <a:xfrm>
              <a:off x="5169934" y="3165624"/>
              <a:ext cx="802307" cy="30466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FDED6522-9A2D-AA4B-B4DF-CFBA69AE25FB}"/>
                </a:ext>
              </a:extLst>
            </p:cNvPr>
            <p:cNvCxnSpPr>
              <a:cxnSpLocks/>
              <a:stCxn id="36" idx="3"/>
              <a:endCxn id="91" idx="1"/>
            </p:cNvCxnSpPr>
            <p:nvPr/>
          </p:nvCxnSpPr>
          <p:spPr>
            <a:xfrm>
              <a:off x="5169934" y="3165624"/>
              <a:ext cx="790925" cy="94863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302D0105-5BA0-2249-8803-FEF9D5F2B4BA}"/>
                </a:ext>
              </a:extLst>
            </p:cNvPr>
            <p:cNvSpPr txBox="1"/>
            <p:nvPr/>
          </p:nvSpPr>
          <p:spPr>
            <a:xfrm>
              <a:off x="5960859" y="392959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检验或验满</a:t>
              </a: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B441DAB1-C4FC-1946-8E8C-08E082C757B0}"/>
                </a:ext>
              </a:extLst>
            </p:cNvPr>
            <p:cNvSpPr/>
            <p:nvPr/>
          </p:nvSpPr>
          <p:spPr>
            <a:xfrm>
              <a:off x="6932309" y="2071645"/>
              <a:ext cx="4429453" cy="49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+ 2HCl       CaCl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H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接箭头连接符 9">
              <a:extLst>
                <a:ext uri="{FF2B5EF4-FFF2-40B4-BE49-F238E27FC236}">
                  <a16:creationId xmlns:a16="http://schemas.microsoft.com/office/drawing/2014/main" id="{DE2DF440-9E48-0345-AAAD-8E4623A6D486}"/>
                </a:ext>
              </a:extLst>
            </p:cNvPr>
            <p:cNvCxnSpPr/>
            <p:nvPr/>
          </p:nvCxnSpPr>
          <p:spPr>
            <a:xfrm flipV="1">
              <a:off x="10343706" y="2180400"/>
              <a:ext cx="0" cy="343948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圆角矩形标注 103">
              <a:extLst>
                <a:ext uri="{FF2B5EF4-FFF2-40B4-BE49-F238E27FC236}">
                  <a16:creationId xmlns:a16="http://schemas.microsoft.com/office/drawing/2014/main" id="{40A3D83E-4D76-2646-AA65-B7EDD27696C8}"/>
                </a:ext>
              </a:extLst>
            </p:cNvPr>
            <p:cNvSpPr/>
            <p:nvPr/>
          </p:nvSpPr>
          <p:spPr>
            <a:xfrm>
              <a:off x="9423437" y="2905911"/>
              <a:ext cx="862909" cy="731765"/>
            </a:xfrm>
            <a:prstGeom prst="wedgeRoundRectCallout">
              <a:avLst>
                <a:gd name="adj1" fmla="val -61944"/>
                <a:gd name="adj2" fmla="val -66853"/>
                <a:gd name="adj3" fmla="val 1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A56D8957-0520-AF47-BD78-33F9E0EE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76230" y="2992627"/>
              <a:ext cx="467756" cy="577192"/>
            </a:xfrm>
            <a:prstGeom prst="rect">
              <a:avLst/>
            </a:prstGeom>
          </p:spPr>
        </p:pic>
        <p:sp>
          <p:nvSpPr>
            <p:cNvPr id="15" name="圆角矩形标注 14">
              <a:extLst>
                <a:ext uri="{FF2B5EF4-FFF2-40B4-BE49-F238E27FC236}">
                  <a16:creationId xmlns:a16="http://schemas.microsoft.com/office/drawing/2014/main" id="{E1F7A6B8-D05B-C64C-8ECD-8F7776A2ED2F}"/>
                </a:ext>
              </a:extLst>
            </p:cNvPr>
            <p:cNvSpPr/>
            <p:nvPr/>
          </p:nvSpPr>
          <p:spPr>
            <a:xfrm>
              <a:off x="8693828" y="3336563"/>
              <a:ext cx="666827" cy="612648"/>
            </a:xfrm>
            <a:prstGeom prst="wedgeRoundRectCallout">
              <a:avLst>
                <a:gd name="adj1" fmla="val -81752"/>
                <a:gd name="adj2" fmla="val 1140"/>
                <a:gd name="adj3" fmla="val 1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4A534373-A23B-F342-BA8D-4E9A25030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1098" y="3439419"/>
              <a:ext cx="392286" cy="442134"/>
            </a:xfrm>
            <a:prstGeom prst="rect">
              <a:avLst/>
            </a:prstGeom>
          </p:spPr>
        </p:pic>
        <p:sp>
          <p:nvSpPr>
            <p:cNvPr id="105" name="圆角矩形标注 104">
              <a:extLst>
                <a:ext uri="{FF2B5EF4-FFF2-40B4-BE49-F238E27FC236}">
                  <a16:creationId xmlns:a16="http://schemas.microsoft.com/office/drawing/2014/main" id="{B6824ABE-A401-1542-8E13-1E2B6CCFFE83}"/>
                </a:ext>
              </a:extLst>
            </p:cNvPr>
            <p:cNvSpPr/>
            <p:nvPr/>
          </p:nvSpPr>
          <p:spPr>
            <a:xfrm>
              <a:off x="7215271" y="4352599"/>
              <a:ext cx="979983" cy="1321311"/>
            </a:xfrm>
            <a:prstGeom prst="wedgeRoundRectCallout">
              <a:avLst>
                <a:gd name="adj1" fmla="val -61944"/>
                <a:gd name="adj2" fmla="val -66853"/>
                <a:gd name="adj3" fmla="val 1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BCDD10B1-A297-FA4F-BF4F-FC20CC72E3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224"/>
            <a:stretch/>
          </p:blipFill>
          <p:spPr>
            <a:xfrm>
              <a:off x="7435004" y="3816496"/>
              <a:ext cx="764587" cy="1575142"/>
            </a:xfrm>
            <a:prstGeom prst="rect">
              <a:avLst/>
            </a:prstGeom>
          </p:spPr>
        </p:pic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95C7DD1C-B855-D144-95B8-F9117D8760F0}"/>
                </a:ext>
              </a:extLst>
            </p:cNvPr>
            <p:cNvSpPr txBox="1"/>
            <p:nvPr/>
          </p:nvSpPr>
          <p:spPr>
            <a:xfrm>
              <a:off x="7410104" y="5367643"/>
              <a:ext cx="6165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检验</a:t>
              </a:r>
            </a:p>
          </p:txBody>
        </p:sp>
        <p:sp>
          <p:nvSpPr>
            <p:cNvPr id="111" name="圆角矩形标注 110">
              <a:extLst>
                <a:ext uri="{FF2B5EF4-FFF2-40B4-BE49-F238E27FC236}">
                  <a16:creationId xmlns:a16="http://schemas.microsoft.com/office/drawing/2014/main" id="{E03B06EF-910B-934A-9EEB-FE8471255A17}"/>
                </a:ext>
              </a:extLst>
            </p:cNvPr>
            <p:cNvSpPr/>
            <p:nvPr/>
          </p:nvSpPr>
          <p:spPr>
            <a:xfrm>
              <a:off x="8467678" y="4281574"/>
              <a:ext cx="666827" cy="1046777"/>
            </a:xfrm>
            <a:prstGeom prst="wedgeRoundRectCallout">
              <a:avLst>
                <a:gd name="adj1" fmla="val -61944"/>
                <a:gd name="adj2" fmla="val -66853"/>
                <a:gd name="adj3" fmla="val 1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76AF4BFB-16E5-CF49-810B-4DF0A4986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83395" y="4420479"/>
              <a:ext cx="411617" cy="660812"/>
            </a:xfrm>
            <a:prstGeom prst="rect">
              <a:avLst/>
            </a:prstGeom>
          </p:spPr>
        </p:pic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7F3C0B2-C4C4-3045-9923-FA939EF9CB72}"/>
                </a:ext>
              </a:extLst>
            </p:cNvPr>
            <p:cNvSpPr txBox="1"/>
            <p:nvPr/>
          </p:nvSpPr>
          <p:spPr>
            <a:xfrm>
              <a:off x="8633682" y="5089873"/>
              <a:ext cx="6165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验满</a:t>
              </a:r>
            </a:p>
          </p:txBody>
        </p:sp>
      </p:grpSp>
      <p:pic>
        <p:nvPicPr>
          <p:cNvPr id="73" name="图片 7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777" y="5969079"/>
            <a:ext cx="656321" cy="506476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0">
            <a:off x="11480098" y="6009155"/>
            <a:ext cx="444976" cy="343383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4FF87FA-7BC0-3649-877B-BA017BCE836B}"/>
              </a:ext>
            </a:extLst>
          </p:cNvPr>
          <p:cNvGrpSpPr/>
          <p:nvPr/>
        </p:nvGrpSpPr>
        <p:grpSpPr>
          <a:xfrm>
            <a:off x="1678719" y="2345722"/>
            <a:ext cx="3710210" cy="3303423"/>
            <a:chOff x="2040350" y="1692557"/>
            <a:chExt cx="3710210" cy="3303423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D71E325-3709-2340-AFF0-8CD54EC2DBA9}"/>
                </a:ext>
              </a:extLst>
            </p:cNvPr>
            <p:cNvGrpSpPr/>
            <p:nvPr/>
          </p:nvGrpSpPr>
          <p:grpSpPr>
            <a:xfrm>
              <a:off x="2040350" y="3455697"/>
              <a:ext cx="1138050" cy="1332632"/>
              <a:chOff x="3701120" y="3665437"/>
              <a:chExt cx="1138050" cy="1332632"/>
            </a:xfrm>
          </p:grpSpPr>
          <p:cxnSp>
            <p:nvCxnSpPr>
              <p:cNvPr id="11" name="直线连接符 10"/>
              <p:cNvCxnSpPr>
                <a:cxnSpLocks/>
              </p:cNvCxnSpPr>
              <p:nvPr/>
            </p:nvCxnSpPr>
            <p:spPr>
              <a:xfrm>
                <a:off x="3701120" y="3665437"/>
                <a:ext cx="933276" cy="133263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/>
              <p:cNvCxnSpPr>
                <a:cxnSpLocks/>
              </p:cNvCxnSpPr>
              <p:nvPr/>
            </p:nvCxnSpPr>
            <p:spPr>
              <a:xfrm>
                <a:off x="4634396" y="4998069"/>
                <a:ext cx="204774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15700D4F-05E5-C543-9609-5814DE7F86EE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flipV="1">
              <a:off x="2830687" y="1900209"/>
              <a:ext cx="154530" cy="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EB44054B-9215-C244-A9DC-99C28A64E9F4}"/>
                </a:ext>
              </a:extLst>
            </p:cNvPr>
            <p:cNvCxnSpPr/>
            <p:nvPr/>
          </p:nvCxnSpPr>
          <p:spPr>
            <a:xfrm flipV="1">
              <a:off x="2067855" y="1893115"/>
              <a:ext cx="774764" cy="101448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2985217" y="1692557"/>
              <a:ext cx="2765343" cy="4153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dirty="0">
                  <a:solidFill>
                    <a:schemeClr val="bg2">
                      <a:lumMod val="25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二氧化碳的实验室制法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1F390A-48B2-0649-AA32-B808FDE03872}"/>
                </a:ext>
              </a:extLst>
            </p:cNvPr>
            <p:cNvSpPr/>
            <p:nvPr/>
          </p:nvSpPr>
          <p:spPr>
            <a:xfrm>
              <a:off x="3104832" y="4580677"/>
              <a:ext cx="2493542" cy="4153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dirty="0">
                  <a:solidFill>
                    <a:schemeClr val="bg2">
                      <a:lumMod val="25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二氧化碳的工业制法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839218" y="3549510"/>
            <a:ext cx="2717714" cy="533972"/>
          </a:xfrm>
          <a:prstGeom prst="rect">
            <a:avLst/>
          </a:prstGeom>
          <a:solidFill>
            <a:srgbClr val="F4A6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2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二氧化碳制取的研究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87A2D6CB-F752-FB48-B9C0-CBEDB22935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课堂小结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5E99A18-281C-461F-8ABF-679D7E2FF52D}"/>
              </a:ext>
            </a:extLst>
          </p:cNvPr>
          <p:cNvCxnSpPr/>
          <p:nvPr/>
        </p:nvCxnSpPr>
        <p:spPr>
          <a:xfrm>
            <a:off x="8851908" y="1732691"/>
            <a:ext cx="3020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6D68B8E-70DF-4C67-8BD7-F77BCA62A174}"/>
              </a:ext>
            </a:extLst>
          </p:cNvPr>
          <p:cNvCxnSpPr/>
          <p:nvPr/>
        </p:nvCxnSpPr>
        <p:spPr>
          <a:xfrm>
            <a:off x="8851908" y="1801201"/>
            <a:ext cx="3020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CD6EED5-3615-4144-A50A-2931439A0768}"/>
              </a:ext>
            </a:extLst>
          </p:cNvPr>
          <p:cNvGrpSpPr/>
          <p:nvPr/>
        </p:nvGrpSpPr>
        <p:grpSpPr>
          <a:xfrm>
            <a:off x="5256449" y="5022865"/>
            <a:ext cx="2929157" cy="626280"/>
            <a:chOff x="2655767" y="2475233"/>
            <a:chExt cx="2929157" cy="62628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A4799ED-1E1C-4E95-B8FA-25C1903E3B3E}"/>
                </a:ext>
              </a:extLst>
            </p:cNvPr>
            <p:cNvSpPr/>
            <p:nvPr/>
          </p:nvSpPr>
          <p:spPr>
            <a:xfrm>
              <a:off x="2655767" y="2602850"/>
              <a:ext cx="2929157" cy="49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CaO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9E6F1FC-BA84-4625-AE8B-46A0B75BF30B}"/>
                </a:ext>
              </a:extLst>
            </p:cNvPr>
            <p:cNvCxnSpPr>
              <a:cxnSpLocks/>
            </p:cNvCxnSpPr>
            <p:nvPr/>
          </p:nvCxnSpPr>
          <p:spPr>
            <a:xfrm>
              <a:off x="3514019" y="2916845"/>
              <a:ext cx="4921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33DB60D-A865-48C4-BC88-D9D37917F17A}"/>
                </a:ext>
              </a:extLst>
            </p:cNvPr>
            <p:cNvCxnSpPr>
              <a:cxnSpLocks/>
            </p:cNvCxnSpPr>
            <p:nvPr/>
          </p:nvCxnSpPr>
          <p:spPr>
            <a:xfrm>
              <a:off x="3514019" y="2971653"/>
              <a:ext cx="4921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996F0C9-65CB-4283-8E39-E7F9033DBAB4}"/>
                </a:ext>
              </a:extLst>
            </p:cNvPr>
            <p:cNvSpPr/>
            <p:nvPr/>
          </p:nvSpPr>
          <p:spPr>
            <a:xfrm>
              <a:off x="3457711" y="2475233"/>
              <a:ext cx="739837" cy="418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高温</a:t>
              </a:r>
            </a:p>
          </p:txBody>
        </p:sp>
        <p:cxnSp>
          <p:nvCxnSpPr>
            <p:cNvPr id="47" name="直接箭头连接符 9">
              <a:extLst>
                <a:ext uri="{FF2B5EF4-FFF2-40B4-BE49-F238E27FC236}">
                  <a16:creationId xmlns:a16="http://schemas.microsoft.com/office/drawing/2014/main" id="{69146DFB-F260-4CED-BA2A-7B9EC717EC53}"/>
                </a:ext>
              </a:extLst>
            </p:cNvPr>
            <p:cNvCxnSpPr/>
            <p:nvPr/>
          </p:nvCxnSpPr>
          <p:spPr>
            <a:xfrm flipV="1">
              <a:off x="5345055" y="2697477"/>
              <a:ext cx="0" cy="34394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39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3086" y="-333830"/>
            <a:ext cx="14781052" cy="95213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B328A6C-5D1E-DA45-8184-BF3A931B5F1A}"/>
              </a:ext>
            </a:extLst>
          </p:cNvPr>
          <p:cNvSpPr txBox="1"/>
          <p:nvPr/>
        </p:nvSpPr>
        <p:spPr>
          <a:xfrm>
            <a:off x="4784526" y="3009352"/>
            <a:ext cx="2699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spc="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火花，不止所见</a:t>
            </a:r>
          </a:p>
        </p:txBody>
      </p:sp>
    </p:spTree>
    <p:extLst>
      <p:ext uri="{BB962C8B-B14F-4D97-AF65-F5344CB8AC3E}">
        <p14:creationId xmlns:p14="http://schemas.microsoft.com/office/powerpoint/2010/main" val="388511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5">
            <a:extLst>
              <a:ext uri="{FF2B5EF4-FFF2-40B4-BE49-F238E27FC236}">
                <a16:creationId xmlns:a16="http://schemas.microsoft.com/office/drawing/2014/main" id="{7553C755-4D65-0649-8DF3-AB751311AC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57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E0E3EA-6134-B54C-9A20-C7F3EB87A285}"/>
              </a:ext>
            </a:extLst>
          </p:cNvPr>
          <p:cNvSpPr txBox="1"/>
          <p:nvPr/>
        </p:nvSpPr>
        <p:spPr>
          <a:xfrm>
            <a:off x="1600201" y="5567898"/>
            <a:ext cx="5856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Source Han Sans SC Medium" panose="020B0500000000000000" pitchFamily="34" charset="-128"/>
                <a:ea typeface="Source Han Sans SC Medium" panose="020B0500000000000000" pitchFamily="34" charset="-128"/>
              </a:rPr>
              <a:t>更多火花学院课件模板及素材：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https://</a:t>
            </a:r>
            <a:r>
              <a:rPr kumimoji="1" lang="en" altLang="zh-CN" sz="1400" dirty="0" err="1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www.huohuaschool.com</a:t>
            </a:r>
            <a:endParaRPr kumimoji="1" lang="zh-CN" altLang="en-US" sz="1400" dirty="0">
              <a:solidFill>
                <a:schemeClr val="bg1"/>
              </a:solidFill>
              <a:latin typeface="Source Han Sans SC Normal" panose="020B0400000000000000" pitchFamily="34" charset="-128"/>
              <a:ea typeface="Source Han Sans SC Normal" panose="020B0400000000000000" pitchFamily="34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934202-F812-4144-A5D6-5A2AA606337D}"/>
              </a:ext>
            </a:extLst>
          </p:cNvPr>
          <p:cNvSpPr txBox="1"/>
          <p:nvPr/>
        </p:nvSpPr>
        <p:spPr>
          <a:xfrm>
            <a:off x="1600201" y="19510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Source Han Sans SC Medium" panose="020B0500000000000000" pitchFamily="34" charset="-128"/>
                <a:ea typeface="Source Han Sans SC Medium" panose="020B0500000000000000" pitchFamily="34" charset="-128"/>
              </a:rPr>
              <a:t>版权声明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8023C5-A8A9-2A4A-A7A4-28857735FE79}"/>
              </a:ext>
            </a:extLst>
          </p:cNvPr>
          <p:cNvSpPr txBox="1"/>
          <p:nvPr/>
        </p:nvSpPr>
        <p:spPr>
          <a:xfrm>
            <a:off x="1600201" y="2412681"/>
            <a:ext cx="9269729" cy="230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60"/>
              </a:lnSpc>
            </a:pP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感谢您下载火花学院提供的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作品，为了您和火花学院以及原创作者的利益，请勿复制、传播、销售，否则将承担法律责任！火花学院将对作品进行维权，按照传播下载次数进行十倍的索取赔偿！</a:t>
            </a:r>
          </a:p>
          <a:p>
            <a:pPr>
              <a:lnSpc>
                <a:spcPts val="2460"/>
              </a:lnSpc>
            </a:pPr>
            <a:endParaRPr kumimoji="1" lang="zh-CN" altLang="en-US" sz="1400" dirty="0">
              <a:solidFill>
                <a:schemeClr val="bg1"/>
              </a:solidFill>
              <a:latin typeface="Source Han Sans SC Normal" panose="020B0400000000000000" pitchFamily="34" charset="-128"/>
              <a:ea typeface="Source Han Sans SC Normal" panose="020B0400000000000000" pitchFamily="34" charset="-128"/>
            </a:endParaRPr>
          </a:p>
          <a:p>
            <a:pPr>
              <a:lnSpc>
                <a:spcPts val="246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1.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 在火花学院出售的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模板是免版税类（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RF</a:t>
            </a:r>
            <a:r>
              <a:rPr kumimoji="1" lang="zh-CN" altLang="e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：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Royalty-Free</a:t>
            </a:r>
            <a:r>
              <a:rPr kumimoji="1" lang="zh-CN" altLang="e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）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正版受</a:t>
            </a: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《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中国人民共和国著作法</a:t>
            </a: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》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和</a:t>
            </a: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《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世界版权公约</a:t>
            </a: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》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的保护，作品的所有权、版权和著作权归火花学院所有，您下载的是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模板素材的使用权。</a:t>
            </a:r>
          </a:p>
          <a:p>
            <a:pPr>
              <a:lnSpc>
                <a:spcPts val="246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2.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 不得将火花学院的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模板、</a:t>
            </a:r>
            <a:r>
              <a:rPr kumimoji="1" lang="en" altLang="zh-CN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PPT</a:t>
            </a:r>
            <a:r>
              <a:rPr kumimoji="1" lang="zh-CN" altLang="en-US" sz="1400" dirty="0">
                <a:solidFill>
                  <a:schemeClr val="bg1"/>
                </a:solidFill>
                <a:latin typeface="Source Han Sans SC Normal" panose="020B0400000000000000" pitchFamily="34" charset="-128"/>
                <a:ea typeface="Source Han Sans SC Normal" panose="020B0400000000000000" pitchFamily="34" charset="-128"/>
              </a:rPr>
              <a:t>素材，本身用于再出售，或者出租、出借、转让、分销、发布或者作为礼物供他人使用，不得转授权、出卖、转让本协议或者本协议中的权利。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21FBD2-8330-6547-93BF-98E46D900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17" y="902827"/>
            <a:ext cx="2630074" cy="816230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8A6A68CE-8A82-7A46-80F9-804176DB412E}"/>
              </a:ext>
            </a:extLst>
          </p:cNvPr>
          <p:cNvSpPr/>
          <p:nvPr/>
        </p:nvSpPr>
        <p:spPr>
          <a:xfrm>
            <a:off x="7456291" y="5567898"/>
            <a:ext cx="1173359" cy="338554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E9632B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点击进入</a:t>
            </a:r>
          </a:p>
        </p:txBody>
      </p:sp>
    </p:spTree>
    <p:extLst>
      <p:ext uri="{BB962C8B-B14F-4D97-AF65-F5344CB8AC3E}">
        <p14:creationId xmlns:p14="http://schemas.microsoft.com/office/powerpoint/2010/main" val="20418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err="1" smtClean="0">
            <a:solidFill>
              <a:schemeClr val="bg1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6911</TotalTime>
  <Words>1442</Words>
  <Application>Microsoft Office PowerPoint</Application>
  <PresentationFormat>宽屏</PresentationFormat>
  <Paragraphs>185</Paragraphs>
  <Slides>31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Microsoft YaHei Light</vt:lpstr>
      <vt:lpstr>Source Han Sans SC</vt:lpstr>
      <vt:lpstr>Source Han Sans SC Medium</vt:lpstr>
      <vt:lpstr>Source Han Sans SC Normal</vt:lpstr>
      <vt:lpstr>等线</vt:lpstr>
      <vt:lpstr>等线</vt:lpstr>
      <vt:lpstr>DengXian Light</vt:lpstr>
      <vt:lpstr>华文楷体</vt:lpstr>
      <vt:lpstr>三极准柔宋</vt:lpstr>
      <vt:lpstr>Microsoft YaHei</vt:lpstr>
      <vt:lpstr>Arial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877272742@qq.com</cp:lastModifiedBy>
  <cp:revision>340</cp:revision>
  <dcterms:created xsi:type="dcterms:W3CDTF">2019-09-04T08:42:23Z</dcterms:created>
  <dcterms:modified xsi:type="dcterms:W3CDTF">2019-12-27T08:32:59Z</dcterms:modified>
</cp:coreProperties>
</file>