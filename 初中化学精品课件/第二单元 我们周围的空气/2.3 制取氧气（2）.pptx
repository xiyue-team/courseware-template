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tags/tag64.xml" ContentType="application/vnd.openxmlformats-officedocument.presentationml.tags+xml"/>
  <Override PartName="/ppt/notesSlides/notesSlide3.xml" ContentType="application/vnd.openxmlformats-officedocument.presentationml.notesSlide+xml"/>
  <Override PartName="/ppt/tags/tag65.xml" ContentType="application/vnd.openxmlformats-officedocument.presentationml.tags+xml"/>
  <Override PartName="/ppt/notesSlides/notesSlide4.xml" ContentType="application/vnd.openxmlformats-officedocument.presentationml.notesSlide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ags/tag70.xml" ContentType="application/vnd.openxmlformats-officedocument.presentationml.tags+xml"/>
  <Override PartName="/ppt/notesSlides/notesSlide8.xml" ContentType="application/vnd.openxmlformats-officedocument.presentationml.notesSlide+xml"/>
  <Override PartName="/ppt/tags/tag71.xml" ContentType="application/vnd.openxmlformats-officedocument.presentationml.tags+xml"/>
  <Override PartName="/ppt/notesSlides/notesSlide9.xml" ContentType="application/vnd.openxmlformats-officedocument.presentationml.notesSlide+xml"/>
  <Override PartName="/ppt/tags/tag72.xml" ContentType="application/vnd.openxmlformats-officedocument.presentationml.tags+xml"/>
  <Override PartName="/ppt/notesSlides/notesSlide10.xml" ContentType="application/vnd.openxmlformats-officedocument.presentationml.notesSlide+xml"/>
  <Override PartName="/ppt/tags/tag73.xml" ContentType="application/vnd.openxmlformats-officedocument.presentationml.tags+xml"/>
  <Override PartName="/ppt/notesSlides/notesSlide11.xml" ContentType="application/vnd.openxmlformats-officedocument.presentationml.notesSlide+xml"/>
  <Override PartName="/ppt/tags/tag74.xml" ContentType="application/vnd.openxmlformats-officedocument.presentationml.tags+xml"/>
  <Override PartName="/ppt/notesSlides/notesSlide12.xml" ContentType="application/vnd.openxmlformats-officedocument.presentationml.notesSlide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ppt/tags/tag76.xml" ContentType="application/vnd.openxmlformats-officedocument.presentationml.tags+xml"/>
  <Override PartName="/ppt/notesSlides/notesSlide14.xml" ContentType="application/vnd.openxmlformats-officedocument.presentationml.notesSlide+xml"/>
  <Override PartName="/ppt/tags/tag77.xml" ContentType="application/vnd.openxmlformats-officedocument.presentationml.tags+xml"/>
  <Override PartName="/ppt/notesSlides/notesSlide15.xml" ContentType="application/vnd.openxmlformats-officedocument.presentationml.notesSlide+xml"/>
  <Override PartName="/ppt/tags/tag78.xml" ContentType="application/vnd.openxmlformats-officedocument.presentationml.tags+xml"/>
  <Override PartName="/ppt/notesSlides/notesSlide16.xml" ContentType="application/vnd.openxmlformats-officedocument.presentationml.notesSlide+xml"/>
  <Override PartName="/ppt/tags/tag79.xml" ContentType="application/vnd.openxmlformats-officedocument.presentationml.tags+xml"/>
  <Override PartName="/ppt/notesSlides/notesSlide17.xml" ContentType="application/vnd.openxmlformats-officedocument.presentationml.notesSlide+xml"/>
  <Override PartName="/ppt/tags/tag80.xml" ContentType="application/vnd.openxmlformats-officedocument.presentationml.tags+xml"/>
  <Override PartName="/ppt/notesSlides/notesSlide18.xml" ContentType="application/vnd.openxmlformats-officedocument.presentationml.notesSlide+xml"/>
  <Override PartName="/ppt/tags/tag81.xml" ContentType="application/vnd.openxmlformats-officedocument.presentationml.tags+xml"/>
  <Override PartName="/ppt/notesSlides/notesSlide19.xml" ContentType="application/vnd.openxmlformats-officedocument.presentationml.notesSlide+xml"/>
  <Override PartName="/ppt/tags/tag82.xml" ContentType="application/vnd.openxmlformats-officedocument.presentationml.tags+xml"/>
  <Override PartName="/ppt/notesSlides/notesSlide20.xml" ContentType="application/vnd.openxmlformats-officedocument.presentationml.notesSlide+xml"/>
  <Override PartName="/ppt/tags/tag83.xml" ContentType="application/vnd.openxmlformats-officedocument.presentationml.tags+xml"/>
  <Override PartName="/ppt/notesSlides/notesSlide21.xml" ContentType="application/vnd.openxmlformats-officedocument.presentationml.notesSlide+xml"/>
  <Override PartName="/ppt/tags/tag84.xml" ContentType="application/vnd.openxmlformats-officedocument.presentationml.tags+xml"/>
  <Override PartName="/ppt/notesSlides/notesSlide22.xml" ContentType="application/vnd.openxmlformats-officedocument.presentationml.notesSlide+xml"/>
  <Override PartName="/ppt/tags/tag85.xml" ContentType="application/vnd.openxmlformats-officedocument.presentationml.tags+xml"/>
  <Override PartName="/ppt/notesSlides/notesSlide23.xml" ContentType="application/vnd.openxmlformats-officedocument.presentationml.notesSlide+xml"/>
  <Override PartName="/ppt/tags/tag86.xml" ContentType="application/vnd.openxmlformats-officedocument.presentationml.tags+xml"/>
  <Override PartName="/ppt/notesSlides/notesSlide24.xml" ContentType="application/vnd.openxmlformats-officedocument.presentationml.notesSlide+xml"/>
  <Override PartName="/ppt/tags/tag87.xml" ContentType="application/vnd.openxmlformats-officedocument.presentationml.tags+xml"/>
  <Override PartName="/ppt/notesSlides/notesSlide25.xml" ContentType="application/vnd.openxmlformats-officedocument.presentationml.notesSlide+xml"/>
  <Override PartName="/ppt/tags/tag88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62" r:id="rId2"/>
    <p:sldId id="257" r:id="rId3"/>
    <p:sldId id="259" r:id="rId4"/>
    <p:sldId id="270" r:id="rId5"/>
    <p:sldId id="258" r:id="rId6"/>
    <p:sldId id="340" r:id="rId7"/>
    <p:sldId id="341" r:id="rId8"/>
    <p:sldId id="342" r:id="rId9"/>
    <p:sldId id="343" r:id="rId10"/>
    <p:sldId id="344" r:id="rId11"/>
    <p:sldId id="345" r:id="rId12"/>
    <p:sldId id="279" r:id="rId13"/>
    <p:sldId id="346" r:id="rId14"/>
    <p:sldId id="271" r:id="rId15"/>
    <p:sldId id="347" r:id="rId16"/>
    <p:sldId id="324" r:id="rId17"/>
    <p:sldId id="361" r:id="rId18"/>
    <p:sldId id="349" r:id="rId19"/>
    <p:sldId id="351" r:id="rId20"/>
    <p:sldId id="352" r:id="rId21"/>
    <p:sldId id="353" r:id="rId22"/>
    <p:sldId id="319" r:id="rId23"/>
    <p:sldId id="354" r:id="rId24"/>
    <p:sldId id="288" r:id="rId25"/>
    <p:sldId id="290" r:id="rId26"/>
    <p:sldId id="268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6">
          <p15:clr>
            <a:srgbClr val="A4A3A4"/>
          </p15:clr>
        </p15:guide>
        <p15:guide id="2" pos="3897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9FA3"/>
    <a:srgbClr val="155C6C"/>
    <a:srgbClr val="C6CFD9"/>
    <a:srgbClr val="184C57"/>
    <a:srgbClr val="107F97"/>
    <a:srgbClr val="E4E4E5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378"/>
      </p:cViewPr>
      <p:guideLst>
        <p:guide orient="horz" pos="1986"/>
        <p:guide pos="389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2019/12/26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D0DACE-38E0-42D2-9336-2B707D34BC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2019/12/26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6" Type="http://schemas.openxmlformats.org/officeDocument/2006/relationships/image" Target="../media/image5.png"/><Relationship Id="rId5" Type="http://schemas.openxmlformats.org/officeDocument/2006/relationships/image" Target="../media/image17.emf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6" Type="http://schemas.openxmlformats.org/officeDocument/2006/relationships/image" Target="../media/image19.png"/><Relationship Id="rId5" Type="http://schemas.openxmlformats.org/officeDocument/2006/relationships/image" Target="../media/image17.emf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Relationship Id="rId6" Type="http://schemas.openxmlformats.org/officeDocument/2006/relationships/image" Target="../media/image20.png"/><Relationship Id="rId5" Type="http://schemas.openxmlformats.org/officeDocument/2006/relationships/image" Target="../media/image17.emf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090" y="490652"/>
            <a:ext cx="1413315" cy="438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2915" y="332740"/>
            <a:ext cx="308292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第二单元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我们周围的空气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33192" y="1993999"/>
            <a:ext cx="5125673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制取氧气</a:t>
            </a:r>
          </a:p>
        </p:txBody>
      </p:sp>
      <p:sp>
        <p:nvSpPr>
          <p:cNvPr id="9" name="矩形 8"/>
          <p:cNvSpPr/>
          <p:nvPr/>
        </p:nvSpPr>
        <p:spPr>
          <a:xfrm>
            <a:off x="5372473" y="2935069"/>
            <a:ext cx="44983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分解反应、氧气的工业制法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384010" y="5727783"/>
            <a:ext cx="21595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讲师：火花学院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1276572" y="1739999"/>
            <a:ext cx="7582535" cy="696912"/>
            <a:chOff x="1206316" y="4068134"/>
            <a:chExt cx="7582535" cy="696912"/>
          </a:xfrm>
        </p:grpSpPr>
        <p:sp>
          <p:nvSpPr>
            <p:cNvPr id="13" name="文本框 12"/>
            <p:cNvSpPr txBox="1"/>
            <p:nvPr/>
          </p:nvSpPr>
          <p:spPr>
            <a:xfrm>
              <a:off x="2074361" y="4185609"/>
              <a:ext cx="671449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学习分解反应，认识分解反应和化合反应的区别；</a:t>
              </a:r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tretch>
              <a:fillRect/>
            </a:stretch>
          </p:blipFill>
          <p:spPr>
            <a:xfrm>
              <a:off x="1206316" y="4068134"/>
              <a:ext cx="696912" cy="696912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1295254" y="4190514"/>
              <a:ext cx="603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kumimoji="1"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76572" y="2665552"/>
            <a:ext cx="9104630" cy="696912"/>
            <a:chOff x="1206316" y="4068134"/>
            <a:chExt cx="9104630" cy="696912"/>
          </a:xfrm>
        </p:grpSpPr>
        <p:sp>
          <p:nvSpPr>
            <p:cNvPr id="42" name="文本框 41"/>
            <p:cNvSpPr txBox="1"/>
            <p:nvPr/>
          </p:nvSpPr>
          <p:spPr>
            <a:xfrm>
              <a:off x="2074361" y="4185609"/>
              <a:ext cx="82365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了解氧气的工业制法；</a:t>
              </a:r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tretch>
              <a:fillRect/>
            </a:stretch>
          </p:blipFill>
          <p:spPr>
            <a:xfrm>
              <a:off x="1206316" y="4068134"/>
              <a:ext cx="696912" cy="696912"/>
            </a:xfrm>
            <a:prstGeom prst="rect">
              <a:avLst/>
            </a:prstGeom>
          </p:spPr>
        </p:pic>
        <p:sp>
          <p:nvSpPr>
            <p:cNvPr id="44" name="文本框 43"/>
            <p:cNvSpPr txBox="1"/>
            <p:nvPr/>
          </p:nvSpPr>
          <p:spPr>
            <a:xfrm>
              <a:off x="1295254" y="4190514"/>
              <a:ext cx="603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kumimoji="1"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276523" y="3592929"/>
            <a:ext cx="7145655" cy="696912"/>
            <a:chOff x="1206316" y="4068134"/>
            <a:chExt cx="7145655" cy="696912"/>
          </a:xfrm>
        </p:grpSpPr>
        <p:sp>
          <p:nvSpPr>
            <p:cNvPr id="46" name="文本框 45"/>
            <p:cNvSpPr txBox="1"/>
            <p:nvPr/>
          </p:nvSpPr>
          <p:spPr>
            <a:xfrm>
              <a:off x="2074361" y="4185609"/>
              <a:ext cx="627761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了解实验室制备氧气的过程及注意事项。</a:t>
              </a:r>
            </a:p>
          </p:txBody>
        </p: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tretch>
              <a:fillRect/>
            </a:stretch>
          </p:blipFill>
          <p:spPr>
            <a:xfrm>
              <a:off x="1206316" y="4068134"/>
              <a:ext cx="696912" cy="696912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295254" y="4190514"/>
              <a:ext cx="603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1"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94596" y="499261"/>
            <a:ext cx="3993708" cy="763500"/>
            <a:chOff x="4115092" y="1451667"/>
            <a:chExt cx="3993708" cy="763500"/>
          </a:xfrm>
        </p:grpSpPr>
        <p:sp>
          <p:nvSpPr>
            <p:cNvPr id="24" name="内容占位符 2"/>
            <p:cNvSpPr txBox="1"/>
            <p:nvPr/>
          </p:nvSpPr>
          <p:spPr>
            <a:xfrm>
              <a:off x="4597250" y="1451667"/>
              <a:ext cx="3511550" cy="6397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dirty="0">
                  <a:sym typeface="+mn-ea"/>
                </a:rPr>
                <a:t>学习目标：</a:t>
              </a:r>
              <a:endParaRPr kumimoji="1" lang="zh-CN" altLang="en-US" dirty="0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6" name="直线连接符 25"/>
            <p:cNvCxnSpPr/>
            <p:nvPr/>
          </p:nvCxnSpPr>
          <p:spPr>
            <a:xfrm>
              <a:off x="4324711" y="1986821"/>
              <a:ext cx="2103120" cy="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8320" y="4721225"/>
            <a:ext cx="11008360" cy="2194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9790" y="684530"/>
            <a:ext cx="915035" cy="269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/>
          <p:cNvSpPr>
            <a:spLocks noChangeAspect="1"/>
          </p:cNvSpPr>
          <p:nvPr/>
        </p:nvSpPr>
        <p:spPr>
          <a:xfrm>
            <a:off x="1710055" y="1492885"/>
            <a:ext cx="2460625" cy="2460625"/>
          </a:xfrm>
          <a:prstGeom prst="ellipse">
            <a:avLst/>
          </a:prstGeom>
          <a:solidFill>
            <a:srgbClr val="2F9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endParaRPr lang="en-US" sz="2530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1430655" y="1609725"/>
            <a:ext cx="699770" cy="699770"/>
          </a:xfrm>
          <a:prstGeom prst="ellipse">
            <a:avLst/>
          </a:prstGeom>
          <a:solidFill>
            <a:srgbClr val="155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AU" sz="2530" dirty="0">
              <a:solidFill>
                <a:srgbClr val="FFFFFF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53" name="Oval 52"/>
          <p:cNvSpPr>
            <a:spLocks noChangeAspect="1"/>
          </p:cNvSpPr>
          <p:nvPr/>
        </p:nvSpPr>
        <p:spPr>
          <a:xfrm>
            <a:off x="4940300" y="2058670"/>
            <a:ext cx="2360295" cy="236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endParaRPr lang="en-US" sz="2530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4669155" y="3517900"/>
            <a:ext cx="643890" cy="643890"/>
          </a:xfrm>
          <a:prstGeom prst="ellipse">
            <a:avLst/>
          </a:prstGeom>
          <a:solidFill>
            <a:srgbClr val="2F9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23" name="Oval 52"/>
          <p:cNvSpPr>
            <a:spLocks noChangeAspect="1"/>
          </p:cNvSpPr>
          <p:nvPr/>
        </p:nvSpPr>
        <p:spPr>
          <a:xfrm>
            <a:off x="7915275" y="1678305"/>
            <a:ext cx="2360295" cy="2360295"/>
          </a:xfrm>
          <a:prstGeom prst="ellipse">
            <a:avLst/>
          </a:prstGeom>
          <a:solidFill>
            <a:srgbClr val="2F9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endParaRPr lang="en-US" sz="2530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30" name="Oval 57"/>
          <p:cNvSpPr>
            <a:spLocks noChangeAspect="1"/>
          </p:cNvSpPr>
          <p:nvPr/>
        </p:nvSpPr>
        <p:spPr>
          <a:xfrm>
            <a:off x="9987915" y="2493645"/>
            <a:ext cx="643890" cy="643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52195" y="5283200"/>
            <a:ext cx="9517380" cy="831215"/>
            <a:chOff x="1657" y="8460"/>
            <a:chExt cx="14988" cy="1309"/>
          </a:xfrm>
        </p:grpSpPr>
        <p:sp>
          <p:nvSpPr>
            <p:cNvPr id="41" name="文本框 40"/>
            <p:cNvSpPr txBox="1"/>
            <p:nvPr/>
          </p:nvSpPr>
          <p:spPr>
            <a:xfrm>
              <a:off x="3269" y="8460"/>
              <a:ext cx="12219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bg1"/>
                  </a:solidFill>
                </a:rPr>
                <a:t>分析上述三个制取氧气的反应，它们有什么共同的特征?</a:t>
              </a:r>
            </a:p>
            <a:p>
              <a:pPr algn="l"/>
              <a:r>
                <a:rPr lang="zh-CN" altLang="en-US" sz="2400" b="1" dirty="0">
                  <a:solidFill>
                    <a:schemeClr val="bg1"/>
                  </a:solidFill>
                </a:rPr>
                <a:t>与化合反应有什么不同?</a:t>
              </a:r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57" y="8647"/>
              <a:ext cx="1292" cy="381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53" y="8647"/>
              <a:ext cx="1292" cy="381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1373505" y="1940560"/>
            <a:ext cx="3133090" cy="1725930"/>
            <a:chOff x="12414" y="4637"/>
            <a:chExt cx="4934" cy="2718"/>
          </a:xfrm>
        </p:grpSpPr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13372" y="4637"/>
              <a:ext cx="301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高锰酸钾</a:t>
              </a: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12414" y="6242"/>
              <a:ext cx="4934" cy="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锰酸钾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二氧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化锰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氧气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4306" y="5388"/>
              <a:ext cx="1150" cy="547"/>
              <a:chOff x="4048" y="3954"/>
              <a:chExt cx="1150" cy="547"/>
            </a:xfrm>
          </p:grpSpPr>
          <p:cxnSp>
            <p:nvCxnSpPr>
              <p:cNvPr id="22" name="直接箭头连接符 21"/>
              <p:cNvCxnSpPr/>
              <p:nvPr/>
            </p:nvCxnSpPr>
            <p:spPr>
              <a:xfrm>
                <a:off x="4048" y="4501"/>
                <a:ext cx="115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4159" y="3954"/>
                <a:ext cx="92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>
                    <a:solidFill>
                      <a:schemeClr val="tx1"/>
                    </a:solidFill>
                  </a:rPr>
                  <a:t>加热</a:t>
                </a: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4554220" y="2535555"/>
            <a:ext cx="3133090" cy="1417955"/>
            <a:chOff x="12414" y="4637"/>
            <a:chExt cx="4934" cy="2233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13372" y="4637"/>
              <a:ext cx="301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过氧化氢</a:t>
              </a: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12414" y="6242"/>
              <a:ext cx="4934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水 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氧气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3969" y="5388"/>
              <a:ext cx="1898" cy="547"/>
              <a:chOff x="3711" y="3954"/>
              <a:chExt cx="1898" cy="547"/>
            </a:xfrm>
          </p:grpSpPr>
          <p:cxnSp>
            <p:nvCxnSpPr>
              <p:cNvPr id="46" name="直接箭头连接符 45"/>
              <p:cNvCxnSpPr/>
              <p:nvPr/>
            </p:nvCxnSpPr>
            <p:spPr>
              <a:xfrm>
                <a:off x="3711" y="4501"/>
                <a:ext cx="1898" cy="0"/>
              </a:xfrm>
              <a:prstGeom prst="straightConnector1">
                <a:avLst/>
              </a:prstGeom>
              <a:ln w="25400">
                <a:solidFill>
                  <a:srgbClr val="2F9FA3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3829" y="3954"/>
                <a:ext cx="156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>
                    <a:solidFill>
                      <a:srgbClr val="2F9FA3"/>
                    </a:solidFill>
                  </a:rPr>
                  <a:t>二氧化锰</a:t>
                </a: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7529195" y="2005965"/>
            <a:ext cx="3133090" cy="1704975"/>
            <a:chOff x="12414" y="4637"/>
            <a:chExt cx="4934" cy="2685"/>
          </a:xfrm>
        </p:grpSpPr>
        <p:sp>
          <p:nvSpPr>
            <p:cNvPr id="50" name="Text Box 29"/>
            <p:cNvSpPr txBox="1">
              <a:spLocks noChangeArrowheads="1"/>
            </p:cNvSpPr>
            <p:nvPr/>
          </p:nvSpPr>
          <p:spPr bwMode="auto">
            <a:xfrm>
              <a:off x="13372" y="4637"/>
              <a:ext cx="301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氯酸钾</a:t>
              </a:r>
            </a:p>
          </p:txBody>
        </p:sp>
        <p:sp>
          <p:nvSpPr>
            <p:cNvPr id="51" name="Text Box 29"/>
            <p:cNvSpPr txBox="1">
              <a:spLocks noChangeArrowheads="1"/>
            </p:cNvSpPr>
            <p:nvPr/>
          </p:nvSpPr>
          <p:spPr bwMode="auto">
            <a:xfrm>
              <a:off x="12414" y="6694"/>
              <a:ext cx="4934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氯化钾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氧气</a:t>
              </a: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3969" y="5388"/>
              <a:ext cx="1898" cy="1154"/>
              <a:chOff x="3711" y="3954"/>
              <a:chExt cx="1898" cy="1154"/>
            </a:xfrm>
          </p:grpSpPr>
          <p:cxnSp>
            <p:nvCxnSpPr>
              <p:cNvPr id="54" name="直接箭头连接符 53"/>
              <p:cNvCxnSpPr/>
              <p:nvPr/>
            </p:nvCxnSpPr>
            <p:spPr>
              <a:xfrm>
                <a:off x="3711" y="4501"/>
                <a:ext cx="189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本框 54"/>
              <p:cNvSpPr txBox="1"/>
              <p:nvPr/>
            </p:nvSpPr>
            <p:spPr>
              <a:xfrm>
                <a:off x="3829" y="3954"/>
                <a:ext cx="156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>
                    <a:solidFill>
                      <a:schemeClr val="tx1"/>
                    </a:solidFill>
                  </a:rPr>
                  <a:t>二氧化锰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174" y="4577"/>
                <a:ext cx="928" cy="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加热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/>
          <p:cNvSpPr txBox="1"/>
          <p:nvPr/>
        </p:nvSpPr>
        <p:spPr>
          <a:xfrm>
            <a:off x="4573905" y="3108960"/>
            <a:ext cx="6012180" cy="64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04.</a:t>
            </a:r>
            <a:r>
              <a:rPr kumimoji="1" lang="zh-CN" altLang="en-US" dirty="0"/>
              <a:t>分解反应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485" y="2559685"/>
            <a:ext cx="1738630" cy="173863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419225" y="4298315"/>
            <a:ext cx="179705" cy="1797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73905" y="1764665"/>
            <a:ext cx="417195" cy="417195"/>
          </a:xfrm>
          <a:prstGeom prst="ellipse">
            <a:avLst/>
          </a:prstGeom>
          <a:solidFill>
            <a:srgbClr val="107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732905" y="3331845"/>
            <a:ext cx="5436235" cy="0"/>
          </a:xfrm>
          <a:prstGeom prst="line">
            <a:avLst/>
          </a:prstGeom>
          <a:ln w="25400">
            <a:solidFill>
              <a:srgbClr val="107F9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4625975" cy="763500"/>
            <a:chOff x="4115092" y="1451667"/>
            <a:chExt cx="462597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414401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1.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概念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0050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4195" y="1604010"/>
            <a:ext cx="6024245" cy="2333625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2865001" y="4839443"/>
            <a:ext cx="7368984" cy="507071"/>
          </a:xfrm>
          <a:prstGeom prst="rect">
            <a:avLst/>
          </a:prstGeom>
          <a:solidFill>
            <a:srgbClr val="107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947024" y="5402300"/>
            <a:ext cx="4854966" cy="622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  <a:ea typeface="+mn-ea"/>
              </a:rPr>
              <a:t>AB  →  A + B （一变多）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892889" y="4825140"/>
            <a:ext cx="7510064" cy="56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由一种物质生成两种或两种以上其他物质的反应叫做分解反应。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477030" y="4674234"/>
            <a:ext cx="8239252" cy="1305941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60411375"/>
              </p:ext>
            </p:extLst>
          </p:nvPr>
        </p:nvGraphicFramePr>
        <p:xfrm>
          <a:off x="1623749" y="1569570"/>
          <a:ext cx="8944501" cy="3602181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00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1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反应类型</a:t>
                      </a:r>
                      <a:endParaRPr lang="zh-CN" altLang="en-US" sz="1800" b="0" u="none" strike="noStrike" dirty="0">
                        <a:solidFill>
                          <a:srgbClr val="1E1E1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化合反应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分解反应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dirty="0">
                        <a:latin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sz="1600" b="0" i="0" u="none" strike="noStrike" dirty="0">
                        <a:solidFill>
                          <a:srgbClr val="1E1E1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形式</a:t>
                      </a: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1E1E1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参加反应的物质种类</a:t>
                      </a: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0" dirty="0">
                        <a:solidFill>
                          <a:prstClr val="black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1E1E1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u="none" strike="noStrike" dirty="0">
                          <a:solidFill>
                            <a:srgbClr val="1E1E1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生成物质的种类</a:t>
                      </a: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1E1E1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494596" y="499261"/>
            <a:ext cx="6306185" cy="763500"/>
            <a:chOff x="4115092" y="1451667"/>
            <a:chExt cx="630618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82422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2.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化合反应和分解反应的区别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503999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4004065" y="2407234"/>
            <a:ext cx="28182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由两种或两种以上的物质生成另一种物质的反应</a:t>
            </a:r>
          </a:p>
        </p:txBody>
      </p:sp>
      <p:sp>
        <p:nvSpPr>
          <p:cNvPr id="4" name="矩形 3"/>
          <p:cNvSpPr/>
          <p:nvPr/>
        </p:nvSpPr>
        <p:spPr>
          <a:xfrm>
            <a:off x="7365853" y="2407234"/>
            <a:ext cx="28182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zh-CN" altLang="en-US" dirty="0">
                <a:solidFill>
                  <a:prstClr val="black"/>
                </a:solidFill>
                <a:sym typeface="+mn-ea"/>
              </a:rPr>
              <a:t>由一种物质生成两种或两种以上其他物质的反应</a:t>
            </a:r>
            <a:endParaRPr lang="zh-CN" altLang="en-US" dirty="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17434" y="3244334"/>
            <a:ext cx="2767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+ B 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（多变一）</a:t>
            </a:r>
            <a:endParaRPr lang="zh-CN" altLang="en-US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00882" y="3252723"/>
            <a:ext cx="2836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 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+ B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（一变多）</a:t>
            </a:r>
            <a:endParaRPr lang="zh-CN" altLang="en-US" dirty="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54897" y="3927992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两种或两种以上</a:t>
            </a:r>
          </a:p>
        </p:txBody>
      </p:sp>
      <p:sp>
        <p:nvSpPr>
          <p:cNvPr id="8" name="矩形 7"/>
          <p:cNvSpPr/>
          <p:nvPr/>
        </p:nvSpPr>
        <p:spPr>
          <a:xfrm>
            <a:off x="8451821" y="39272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zh-CN" altLang="en-US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</a:rPr>
              <a:t>一种</a:t>
            </a:r>
          </a:p>
        </p:txBody>
      </p:sp>
      <p:sp>
        <p:nvSpPr>
          <p:cNvPr id="9" name="矩形 8"/>
          <p:cNvSpPr/>
          <p:nvPr/>
        </p:nvSpPr>
        <p:spPr>
          <a:xfrm>
            <a:off x="5005600" y="460669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一种</a:t>
            </a:r>
          </a:p>
        </p:txBody>
      </p:sp>
      <p:sp>
        <p:nvSpPr>
          <p:cNvPr id="10" name="矩形 9"/>
          <p:cNvSpPr/>
          <p:nvPr/>
        </p:nvSpPr>
        <p:spPr>
          <a:xfrm>
            <a:off x="7952850" y="4618603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ctr"/>
            <a:r>
              <a:rPr lang="zh-CN" altLang="en-US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两种或两种以上</a:t>
            </a:r>
            <a:endParaRPr lang="zh-CN" altLang="en-US" dirty="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/>
          <p:cNvSpPr txBox="1"/>
          <p:nvPr/>
        </p:nvSpPr>
        <p:spPr>
          <a:xfrm>
            <a:off x="4573905" y="3108960"/>
            <a:ext cx="6012180" cy="64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05.</a:t>
            </a:r>
            <a:r>
              <a:rPr kumimoji="1" lang="zh-CN" altLang="en-US" dirty="0"/>
              <a:t>氧气的工业制法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485" y="2559685"/>
            <a:ext cx="1738630" cy="173863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419225" y="4298315"/>
            <a:ext cx="179705" cy="1797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73905" y="1764665"/>
            <a:ext cx="417195" cy="417195"/>
          </a:xfrm>
          <a:prstGeom prst="ellipse">
            <a:avLst/>
          </a:prstGeom>
          <a:solidFill>
            <a:srgbClr val="107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840345" y="3331845"/>
            <a:ext cx="4328795" cy="0"/>
          </a:xfrm>
          <a:prstGeom prst="line">
            <a:avLst/>
          </a:prstGeom>
          <a:ln w="25400">
            <a:solidFill>
              <a:srgbClr val="107F9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4625975" cy="763500"/>
            <a:chOff x="4115092" y="1451667"/>
            <a:chExt cx="462597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414401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1.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原理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0050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7452490" y="2149517"/>
            <a:ext cx="3282182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       利用液氧（沸点高）和液氮（沸点低）的沸点不同进行分离。分离液态空气过程，没有生成新的物质，是物理变化。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328" y="1944579"/>
            <a:ext cx="3958456" cy="2968842"/>
          </a:xfrm>
          <a:prstGeom prst="rect">
            <a:avLst/>
          </a:prstGeom>
        </p:spPr>
      </p:pic>
      <p:sp>
        <p:nvSpPr>
          <p:cNvPr id="19" name="圆角矩形 14"/>
          <p:cNvSpPr/>
          <p:nvPr/>
        </p:nvSpPr>
        <p:spPr>
          <a:xfrm>
            <a:off x="1208638" y="1763378"/>
            <a:ext cx="4390883" cy="3374230"/>
          </a:xfrm>
          <a:prstGeom prst="roundRect">
            <a:avLst/>
          </a:prstGeom>
          <a:noFill/>
          <a:ln w="25400">
            <a:solidFill>
              <a:srgbClr val="2F9FA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F9FA3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4625975" cy="763500"/>
            <a:chOff x="4115092" y="1451667"/>
            <a:chExt cx="462597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414401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2.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方法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0050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35844"/>
          <p:cNvSpPr txBox="1">
            <a:spLocks noChangeArrowheads="1"/>
          </p:cNvSpPr>
          <p:nvPr/>
        </p:nvSpPr>
        <p:spPr bwMode="auto">
          <a:xfrm>
            <a:off x="2658491" y="275419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2F9FA3"/>
                </a:solidFill>
                <a:latin typeface="+mn-ea"/>
              </a:rPr>
              <a:t>低温加压</a:t>
            </a:r>
          </a:p>
        </p:txBody>
      </p:sp>
      <p:sp>
        <p:nvSpPr>
          <p:cNvPr id="9" name="文本框 35846"/>
          <p:cNvSpPr txBox="1">
            <a:spLocks noChangeArrowheads="1"/>
          </p:cNvSpPr>
          <p:nvPr/>
        </p:nvSpPr>
        <p:spPr bwMode="auto">
          <a:xfrm>
            <a:off x="1493973" y="2905097"/>
            <a:ext cx="979130" cy="45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空气</a:t>
            </a:r>
            <a:endParaRPr lang="zh-CN" altLang="en-US" sz="2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直接连接符 35847"/>
          <p:cNvSpPr>
            <a:spLocks noChangeShapeType="1"/>
          </p:cNvSpPr>
          <p:nvPr/>
        </p:nvSpPr>
        <p:spPr bwMode="auto">
          <a:xfrm>
            <a:off x="2615294" y="3165281"/>
            <a:ext cx="135170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>
              <a:solidFill>
                <a:srgbClr val="2F9FA3"/>
              </a:solidFill>
              <a:latin typeface="+mn-ea"/>
            </a:endParaRPr>
          </a:p>
        </p:txBody>
      </p:sp>
      <p:sp>
        <p:nvSpPr>
          <p:cNvPr id="13" name="文本框 35849"/>
          <p:cNvSpPr txBox="1">
            <a:spLocks noChangeArrowheads="1"/>
          </p:cNvSpPr>
          <p:nvPr/>
        </p:nvSpPr>
        <p:spPr bwMode="auto">
          <a:xfrm>
            <a:off x="8052712" y="2535637"/>
            <a:ext cx="2411831" cy="1198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氮气先蒸发</a:t>
            </a:r>
          </a:p>
          <a:p>
            <a:endParaRPr lang="zh-CN" altLang="en-US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液态氧气</a:t>
            </a:r>
          </a:p>
        </p:txBody>
      </p:sp>
      <p:sp>
        <p:nvSpPr>
          <p:cNvPr id="14" name="直接连接符 35850"/>
          <p:cNvSpPr>
            <a:spLocks noChangeShapeType="1"/>
          </p:cNvSpPr>
          <p:nvPr/>
        </p:nvSpPr>
        <p:spPr bwMode="auto">
          <a:xfrm flipV="1">
            <a:off x="5738075" y="3167996"/>
            <a:ext cx="1200516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>
              <a:latin typeface="+mn-ea"/>
            </a:endParaRPr>
          </a:p>
        </p:txBody>
      </p:sp>
      <p:sp>
        <p:nvSpPr>
          <p:cNvPr id="15" name="直接连接符 35851"/>
          <p:cNvSpPr>
            <a:spLocks noChangeShapeType="1"/>
          </p:cNvSpPr>
          <p:nvPr/>
        </p:nvSpPr>
        <p:spPr bwMode="auto">
          <a:xfrm flipH="1">
            <a:off x="7080781" y="2785413"/>
            <a:ext cx="0" cy="725044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>
              <a:latin typeface="+mn-ea"/>
            </a:endParaRPr>
          </a:p>
        </p:txBody>
      </p:sp>
      <p:sp>
        <p:nvSpPr>
          <p:cNvPr id="16" name="直接连接符 35852"/>
          <p:cNvSpPr>
            <a:spLocks noChangeShapeType="1"/>
          </p:cNvSpPr>
          <p:nvPr/>
        </p:nvSpPr>
        <p:spPr bwMode="auto">
          <a:xfrm>
            <a:off x="7076753" y="2782698"/>
            <a:ext cx="77754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>
              <a:latin typeface="+mn-ea"/>
            </a:endParaRPr>
          </a:p>
        </p:txBody>
      </p:sp>
      <p:sp>
        <p:nvSpPr>
          <p:cNvPr id="17" name="直接连接符 35853"/>
          <p:cNvSpPr>
            <a:spLocks noChangeShapeType="1"/>
          </p:cNvSpPr>
          <p:nvPr/>
        </p:nvSpPr>
        <p:spPr bwMode="auto">
          <a:xfrm>
            <a:off x="7076753" y="3509703"/>
            <a:ext cx="863939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>
              <a:latin typeface="+mn-ea"/>
            </a:endParaRPr>
          </a:p>
        </p:txBody>
      </p:sp>
      <p:sp>
        <p:nvSpPr>
          <p:cNvPr id="12" name="文本框 35854"/>
          <p:cNvSpPr txBox="1">
            <a:spLocks noChangeArrowheads="1"/>
          </p:cNvSpPr>
          <p:nvPr/>
        </p:nvSpPr>
        <p:spPr bwMode="auto">
          <a:xfrm>
            <a:off x="5963576" y="2754719"/>
            <a:ext cx="691151" cy="398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2F9FA3"/>
                </a:solidFill>
                <a:latin typeface="+mn-ea"/>
              </a:rPr>
              <a:t>蒸发</a:t>
            </a:r>
          </a:p>
        </p:txBody>
      </p:sp>
      <p:sp>
        <p:nvSpPr>
          <p:cNvPr id="2" name="矩形 1"/>
          <p:cNvSpPr/>
          <p:nvPr/>
        </p:nvSpPr>
        <p:spPr>
          <a:xfrm>
            <a:off x="4155986" y="2894553"/>
            <a:ext cx="1507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charset="-122"/>
              </a:rPr>
              <a:t>液态空气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charset="-122"/>
              </a:rPr>
              <a:t> 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3" grpId="0"/>
      <p:bldP spid="14" grpId="0" animBg="1"/>
      <p:bldP spid="15" grpId="0" animBg="1"/>
      <p:bldP spid="16" grpId="0" animBg="1"/>
      <p:bldP spid="17" grpId="0" animBg="1"/>
      <p:bldP spid="12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4-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18415" y="0"/>
            <a:ext cx="12210415" cy="686879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94596" y="499261"/>
            <a:ext cx="3993708" cy="763500"/>
            <a:chOff x="4115092" y="1451667"/>
            <a:chExt cx="3993708" cy="76350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597250" y="1451667"/>
              <a:ext cx="3511550" cy="6397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dirty="0">
                  <a:sym typeface="+mn-ea"/>
                </a:rPr>
                <a:t>随堂练习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15" name="直线连接符 35"/>
            <p:cNvCxnSpPr/>
            <p:nvPr/>
          </p:nvCxnSpPr>
          <p:spPr>
            <a:xfrm>
              <a:off x="4324936" y="1986676"/>
              <a:ext cx="3342713" cy="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703910" y="1429458"/>
            <a:ext cx="8963846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1、下列反应属于分解反应的是（        ）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A、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B、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C、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D、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4850" y="4230370"/>
            <a:ext cx="87445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2、工业上制取大量氧气的方法是 （        ）</a:t>
            </a:r>
          </a:p>
          <a:p>
            <a:pPr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A、加热氯酸钾</a:t>
            </a: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         </a:t>
            </a:r>
            <a:r>
              <a:rPr 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    </a:t>
            </a:r>
            <a:r>
              <a:rPr sz="200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B、加热高锰酸钾</a:t>
            </a:r>
            <a:endParaRPr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C、分离液态空气</a:t>
            </a: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     </a:t>
            </a:r>
            <a:r>
              <a:rPr 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     </a:t>
            </a:r>
            <a:r>
              <a:rPr sz="200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D、加热二氧化锰</a:t>
            </a:r>
            <a:endParaRPr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25965" y="1536120"/>
            <a:ext cx="4241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18395" y="4333295"/>
            <a:ext cx="3879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149985" y="1882140"/>
            <a:ext cx="3463925" cy="513080"/>
            <a:chOff x="1811" y="2964"/>
            <a:chExt cx="5455" cy="808"/>
          </a:xfrm>
        </p:grpSpPr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1811" y="3144"/>
              <a:ext cx="2287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硫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氧气</a:t>
              </a: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4988" y="3144"/>
              <a:ext cx="2278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二氧化硫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741" y="2964"/>
              <a:ext cx="1205" cy="517"/>
              <a:chOff x="4101" y="2964"/>
              <a:chExt cx="1205" cy="517"/>
            </a:xfrm>
          </p:grpSpPr>
          <p:cxnSp>
            <p:nvCxnSpPr>
              <p:cNvPr id="46" name="直接箭头连接符 45"/>
              <p:cNvCxnSpPr/>
              <p:nvPr/>
            </p:nvCxnSpPr>
            <p:spPr>
              <a:xfrm>
                <a:off x="4101" y="3481"/>
                <a:ext cx="1205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4189" y="2964"/>
                <a:ext cx="856" cy="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点燃</a:t>
                </a: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1149985" y="2365375"/>
            <a:ext cx="4436745" cy="495300"/>
            <a:chOff x="1811" y="2994"/>
            <a:chExt cx="6987" cy="780"/>
          </a:xfrm>
        </p:grpSpPr>
        <p:sp>
          <p:nvSpPr>
            <p:cNvPr id="9" name="Text Box 29"/>
            <p:cNvSpPr txBox="1">
              <a:spLocks noChangeArrowheads="1"/>
            </p:cNvSpPr>
            <p:nvPr/>
          </p:nvSpPr>
          <p:spPr bwMode="auto">
            <a:xfrm>
              <a:off x="1811" y="3144"/>
              <a:ext cx="250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石蜡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氧气</a:t>
              </a:r>
            </a:p>
          </p:txBody>
        </p:sp>
        <p:sp>
          <p:nvSpPr>
            <p:cNvPr id="10" name="Text Box 29"/>
            <p:cNvSpPr txBox="1">
              <a:spLocks noChangeArrowheads="1"/>
            </p:cNvSpPr>
            <p:nvPr/>
          </p:nvSpPr>
          <p:spPr bwMode="auto">
            <a:xfrm>
              <a:off x="5448" y="3144"/>
              <a:ext cx="335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二氧化硫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水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186" y="2994"/>
              <a:ext cx="1205" cy="485"/>
              <a:chOff x="4546" y="2994"/>
              <a:chExt cx="1205" cy="485"/>
            </a:xfrm>
          </p:grpSpPr>
          <p:cxnSp>
            <p:nvCxnSpPr>
              <p:cNvPr id="18" name="直接箭头连接符 17"/>
              <p:cNvCxnSpPr/>
              <p:nvPr/>
            </p:nvCxnSpPr>
            <p:spPr>
              <a:xfrm>
                <a:off x="4546" y="3466"/>
                <a:ext cx="1205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4649" y="2994"/>
                <a:ext cx="856" cy="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点燃</a:t>
                </a: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1149985" y="2839085"/>
            <a:ext cx="3968750" cy="484505"/>
            <a:chOff x="1811" y="3009"/>
            <a:chExt cx="6250" cy="763"/>
          </a:xfrm>
        </p:grpSpPr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1811" y="3144"/>
              <a:ext cx="2287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铁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氧气</a:t>
              </a: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4988" y="3144"/>
              <a:ext cx="3073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四氧化三铁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3741" y="3009"/>
              <a:ext cx="1205" cy="485"/>
              <a:chOff x="4101" y="3009"/>
              <a:chExt cx="1205" cy="485"/>
            </a:xfrm>
          </p:grpSpPr>
          <p:cxnSp>
            <p:nvCxnSpPr>
              <p:cNvPr id="34" name="直接箭头连接符 33"/>
              <p:cNvCxnSpPr/>
              <p:nvPr/>
            </p:nvCxnSpPr>
            <p:spPr>
              <a:xfrm>
                <a:off x="4101" y="3481"/>
                <a:ext cx="1205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4249" y="3009"/>
                <a:ext cx="856" cy="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点燃</a:t>
                </a: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1149985" y="3300730"/>
            <a:ext cx="3282950" cy="474980"/>
            <a:chOff x="1811" y="3024"/>
            <a:chExt cx="5170" cy="748"/>
          </a:xfrm>
        </p:grpSpPr>
        <p:sp>
          <p:nvSpPr>
            <p:cNvPr id="37" name="Text Box 29"/>
            <p:cNvSpPr txBox="1">
              <a:spLocks noChangeArrowheads="1"/>
            </p:cNvSpPr>
            <p:nvPr/>
          </p:nvSpPr>
          <p:spPr bwMode="auto">
            <a:xfrm>
              <a:off x="1811" y="3144"/>
              <a:ext cx="2287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氧化汞</a:t>
              </a:r>
            </a:p>
          </p:txBody>
        </p:sp>
        <p:sp>
          <p:nvSpPr>
            <p:cNvPr id="38" name="Text Box 29"/>
            <p:cNvSpPr txBox="1">
              <a:spLocks noChangeArrowheads="1"/>
            </p:cNvSpPr>
            <p:nvPr/>
          </p:nvSpPr>
          <p:spPr bwMode="auto">
            <a:xfrm>
              <a:off x="4703" y="3144"/>
              <a:ext cx="2278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汞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+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氧气</a:t>
              </a: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416" y="3024"/>
              <a:ext cx="1205" cy="485"/>
              <a:chOff x="3776" y="3024"/>
              <a:chExt cx="1205" cy="485"/>
            </a:xfrm>
          </p:grpSpPr>
          <p:cxnSp>
            <p:nvCxnSpPr>
              <p:cNvPr id="40" name="直接箭头连接符 39"/>
              <p:cNvCxnSpPr/>
              <p:nvPr/>
            </p:nvCxnSpPr>
            <p:spPr>
              <a:xfrm>
                <a:off x="3776" y="3481"/>
                <a:ext cx="1205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/>
              <p:cNvSpPr txBox="1"/>
              <p:nvPr/>
            </p:nvSpPr>
            <p:spPr>
              <a:xfrm>
                <a:off x="3909" y="3024"/>
                <a:ext cx="856" cy="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加热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/>
          <p:cNvSpPr txBox="1"/>
          <p:nvPr/>
        </p:nvSpPr>
        <p:spPr>
          <a:xfrm>
            <a:off x="4573905" y="3108960"/>
            <a:ext cx="6012180" cy="64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ym typeface="+mn-ea"/>
              </a:rPr>
              <a:t>实验活动：氧气的制取和性质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485" y="2559685"/>
            <a:ext cx="1738630" cy="173863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419225" y="4298315"/>
            <a:ext cx="179705" cy="1797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73905" y="1764665"/>
            <a:ext cx="417195" cy="417195"/>
          </a:xfrm>
          <a:prstGeom prst="ellipse">
            <a:avLst/>
          </a:prstGeom>
          <a:solidFill>
            <a:srgbClr val="107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415145" y="3331845"/>
            <a:ext cx="2753995" cy="0"/>
          </a:xfrm>
          <a:prstGeom prst="line">
            <a:avLst/>
          </a:prstGeom>
          <a:ln w="25400">
            <a:solidFill>
              <a:srgbClr val="107F9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dirty="0">
                  <a:solidFill>
                    <a:schemeClr val="bg1"/>
                  </a:solidFill>
                </a:rPr>
                <a:t>1</a:t>
              </a:r>
              <a:r>
                <a:rPr kumimoji="1" lang="en-US" altLang="zh-CN" dirty="0">
                  <a:solidFill>
                    <a:schemeClr val="bg1"/>
                  </a:solidFill>
                </a:rPr>
                <a:t>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制取装置的选择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3571240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083" name="文本框 38914"/>
          <p:cNvSpPr txBox="1">
            <a:spLocks noChangeArrowheads="1"/>
          </p:cNvSpPr>
          <p:nvPr/>
        </p:nvSpPr>
        <p:spPr bwMode="auto">
          <a:xfrm>
            <a:off x="1978025" y="4712970"/>
            <a:ext cx="1141095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反应物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:</a:t>
            </a:r>
          </a:p>
        </p:txBody>
      </p:sp>
      <p:sp>
        <p:nvSpPr>
          <p:cNvPr id="46084" name="文本框 38915"/>
          <p:cNvSpPr txBox="1">
            <a:spLocks noChangeArrowheads="1"/>
          </p:cNvSpPr>
          <p:nvPr/>
        </p:nvSpPr>
        <p:spPr bwMode="auto">
          <a:xfrm>
            <a:off x="6978650" y="4685902"/>
            <a:ext cx="1246505" cy="445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反应物：</a:t>
            </a:r>
          </a:p>
        </p:txBody>
      </p:sp>
      <p:sp>
        <p:nvSpPr>
          <p:cNvPr id="46085" name="文本框 38916"/>
          <p:cNvSpPr txBox="1">
            <a:spLocks noChangeArrowheads="1"/>
          </p:cNvSpPr>
          <p:nvPr/>
        </p:nvSpPr>
        <p:spPr bwMode="auto">
          <a:xfrm>
            <a:off x="8006862" y="3932368"/>
            <a:ext cx="2214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②、固液不加热型</a:t>
            </a:r>
          </a:p>
        </p:txBody>
      </p:sp>
      <p:sp>
        <p:nvSpPr>
          <p:cNvPr id="46086" name="文本框 38917"/>
          <p:cNvSpPr txBox="1">
            <a:spLocks noChangeArrowheads="1"/>
          </p:cNvSpPr>
          <p:nvPr/>
        </p:nvSpPr>
        <p:spPr bwMode="auto">
          <a:xfrm>
            <a:off x="3434695" y="3932341"/>
            <a:ext cx="196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①、固固加热型</a:t>
            </a:r>
          </a:p>
        </p:txBody>
      </p:sp>
      <p:sp>
        <p:nvSpPr>
          <p:cNvPr id="46088" name="矩形 38919"/>
          <p:cNvSpPr/>
          <p:nvPr/>
        </p:nvSpPr>
        <p:spPr>
          <a:xfrm>
            <a:off x="2928620" y="4712970"/>
            <a:ext cx="7505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固体</a:t>
            </a:r>
          </a:p>
        </p:txBody>
      </p:sp>
      <p:sp>
        <p:nvSpPr>
          <p:cNvPr id="46089" name="矩形 38920"/>
          <p:cNvSpPr>
            <a:spLocks noChangeArrowheads="1"/>
          </p:cNvSpPr>
          <p:nvPr/>
        </p:nvSpPr>
        <p:spPr bwMode="auto">
          <a:xfrm>
            <a:off x="6957930" y="5200305"/>
            <a:ext cx="1452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反应条件：</a:t>
            </a:r>
          </a:p>
        </p:txBody>
      </p:sp>
      <p:sp>
        <p:nvSpPr>
          <p:cNvPr id="46090" name="矩形 38921"/>
          <p:cNvSpPr/>
          <p:nvPr/>
        </p:nvSpPr>
        <p:spPr>
          <a:xfrm>
            <a:off x="3195320" y="5199518"/>
            <a:ext cx="7689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加热</a:t>
            </a:r>
          </a:p>
        </p:txBody>
      </p:sp>
      <p:sp>
        <p:nvSpPr>
          <p:cNvPr id="46091" name="矩形 38922"/>
          <p:cNvSpPr/>
          <p:nvPr/>
        </p:nvSpPr>
        <p:spPr>
          <a:xfrm>
            <a:off x="7949565" y="4712970"/>
            <a:ext cx="16090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固体和液体</a:t>
            </a:r>
          </a:p>
        </p:txBody>
      </p:sp>
      <p:sp>
        <p:nvSpPr>
          <p:cNvPr id="46092" name="矩形 38923"/>
          <p:cNvSpPr/>
          <p:nvPr/>
        </p:nvSpPr>
        <p:spPr>
          <a:xfrm>
            <a:off x="8178165" y="5184775"/>
            <a:ext cx="15055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不需要加热</a:t>
            </a:r>
          </a:p>
        </p:txBody>
      </p:sp>
      <p:sp>
        <p:nvSpPr>
          <p:cNvPr id="46094" name="矩形 38925"/>
          <p:cNvSpPr>
            <a:spLocks noChangeArrowheads="1"/>
          </p:cNvSpPr>
          <p:nvPr/>
        </p:nvSpPr>
        <p:spPr bwMode="auto">
          <a:xfrm>
            <a:off x="1630045" y="1292225"/>
            <a:ext cx="5522595" cy="575945"/>
          </a:xfrm>
          <a:prstGeom prst="rect">
            <a:avLst/>
          </a:prstGeom>
          <a:noFill/>
          <a:ln w="57150" cmpd="thinThick">
            <a:noFill/>
            <a:miter lim="800000"/>
          </a:ln>
        </p:spPr>
        <p:txBody>
          <a:bodyPr wrap="none" lIns="90170" tIns="46990" rIns="90170" bIns="4699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发生装置（根据反应物的状态和反应条件确定）</a:t>
            </a:r>
          </a:p>
        </p:txBody>
      </p:sp>
      <p:sp>
        <p:nvSpPr>
          <p:cNvPr id="2" name="矩形 1"/>
          <p:cNvSpPr/>
          <p:nvPr/>
        </p:nvSpPr>
        <p:spPr>
          <a:xfrm>
            <a:off x="1981616" y="5176341"/>
            <a:ext cx="1452880" cy="445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反应条件：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1668145" y="2010410"/>
            <a:ext cx="3916680" cy="4343400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536055" y="2010410"/>
            <a:ext cx="3916680" cy="4343400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6"/>
          <a:srcRect r="40215"/>
          <a:stretch>
            <a:fillRect/>
          </a:stretch>
        </p:blipFill>
        <p:spPr>
          <a:xfrm>
            <a:off x="1739265" y="2175296"/>
            <a:ext cx="1960880" cy="215582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7"/>
          <a:srcRect r="61876"/>
          <a:stretch>
            <a:fillRect/>
          </a:stretch>
        </p:blipFill>
        <p:spPr>
          <a:xfrm>
            <a:off x="6955790" y="2337435"/>
            <a:ext cx="848995" cy="1974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4" grpId="0"/>
      <p:bldP spid="46085" grpId="0"/>
      <p:bldP spid="46086" grpId="0"/>
      <p:bldP spid="46088" grpId="0"/>
      <p:bldP spid="46089" grpId="0"/>
      <p:bldP spid="46090" grpId="0"/>
      <p:bldP spid="46091" grpId="0"/>
      <p:bldP spid="46092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框 39937"/>
          <p:cNvSpPr txBox="1"/>
          <p:nvPr/>
        </p:nvSpPr>
        <p:spPr>
          <a:xfrm>
            <a:off x="6833552" y="3492607"/>
            <a:ext cx="356393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密度比空气大的气体</a:t>
            </a:r>
          </a:p>
        </p:txBody>
      </p:sp>
      <p:sp>
        <p:nvSpPr>
          <p:cNvPr id="44036" name="文本框 39940"/>
          <p:cNvSpPr txBox="1">
            <a:spLocks noChangeArrowheads="1"/>
          </p:cNvSpPr>
          <p:nvPr/>
        </p:nvSpPr>
        <p:spPr bwMode="auto">
          <a:xfrm>
            <a:off x="2607068" y="721980"/>
            <a:ext cx="6978184" cy="402674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0170" tIns="46990" rIns="90170" bIns="4699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收集装置（根据气体的溶解性和密度确定）</a:t>
            </a:r>
          </a:p>
        </p:txBody>
      </p:sp>
      <p:sp>
        <p:nvSpPr>
          <p:cNvPr id="47111" name="文本框 39942"/>
          <p:cNvSpPr txBox="1"/>
          <p:nvPr/>
        </p:nvSpPr>
        <p:spPr>
          <a:xfrm>
            <a:off x="4710748" y="1965802"/>
            <a:ext cx="216058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①排水法</a:t>
            </a:r>
            <a:r>
              <a:rPr lang="en-US" altLang="x-none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</a:p>
        </p:txBody>
      </p:sp>
      <p:sp>
        <p:nvSpPr>
          <p:cNvPr id="47112" name="文本框 39943"/>
          <p:cNvSpPr txBox="1"/>
          <p:nvPr/>
        </p:nvSpPr>
        <p:spPr>
          <a:xfrm>
            <a:off x="4711065" y="3485515"/>
            <a:ext cx="2292350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②向上排空气法</a:t>
            </a:r>
            <a:r>
              <a:rPr lang="en-US" altLang="x-none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</a:p>
        </p:txBody>
      </p:sp>
      <p:sp>
        <p:nvSpPr>
          <p:cNvPr id="44043" name="文本框 39947"/>
          <p:cNvSpPr txBox="1">
            <a:spLocks noChangeArrowheads="1"/>
          </p:cNvSpPr>
          <p:nvPr/>
        </p:nvSpPr>
        <p:spPr bwMode="auto">
          <a:xfrm>
            <a:off x="9754898" y="5408614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47117" name="文本框 39948"/>
          <p:cNvSpPr txBox="1"/>
          <p:nvPr/>
        </p:nvSpPr>
        <p:spPr>
          <a:xfrm>
            <a:off x="6022022" y="1966119"/>
            <a:ext cx="464343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不溶或难溶于水的气体</a:t>
            </a:r>
          </a:p>
        </p:txBody>
      </p:sp>
      <p:sp>
        <p:nvSpPr>
          <p:cNvPr id="47118" name="矩形 39949"/>
          <p:cNvSpPr/>
          <p:nvPr/>
        </p:nvSpPr>
        <p:spPr>
          <a:xfrm>
            <a:off x="4711065" y="5121910"/>
            <a:ext cx="22923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③向下排空气法：</a:t>
            </a:r>
          </a:p>
        </p:txBody>
      </p:sp>
      <p:sp>
        <p:nvSpPr>
          <p:cNvPr id="47120" name="文本框 39951"/>
          <p:cNvSpPr txBox="1"/>
          <p:nvPr/>
        </p:nvSpPr>
        <p:spPr>
          <a:xfrm>
            <a:off x="6833552" y="5122205"/>
            <a:ext cx="38163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noProof="1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密度比空气小的气体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62418" r="-964"/>
          <a:stretch>
            <a:fillRect/>
          </a:stretch>
        </p:blipFill>
        <p:spPr>
          <a:xfrm>
            <a:off x="2799080" y="501015"/>
            <a:ext cx="1264285" cy="2155825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2872105" y="627380"/>
            <a:ext cx="6447790" cy="563880"/>
          </a:xfrm>
          <a:prstGeom prst="roundRect">
            <a:avLst>
              <a:gd name="adj" fmla="val 37725"/>
            </a:avLst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1-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580" y="2964815"/>
            <a:ext cx="1029335" cy="1413510"/>
          </a:xfrm>
          <a:prstGeom prst="rect">
            <a:avLst/>
          </a:prstGeom>
        </p:spPr>
      </p:pic>
      <p:pic>
        <p:nvPicPr>
          <p:cNvPr id="6" name="图片 5" descr="1-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951480" y="4679950"/>
            <a:ext cx="1029335" cy="14135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75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11" grpId="0"/>
      <p:bldP spid="47112" grpId="0"/>
      <p:bldP spid="47117" grpId="0"/>
      <p:bldP spid="47118" grpId="0"/>
      <p:bldP spid="471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717165" y="4186555"/>
            <a:ext cx="6747510" cy="1304925"/>
          </a:xfrm>
          <a:prstGeom prst="roundRect">
            <a:avLst/>
          </a:prstGeom>
          <a:solidFill>
            <a:srgbClr val="107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35" name="文本框 40966"/>
          <p:cNvSpPr txBox="1"/>
          <p:nvPr/>
        </p:nvSpPr>
        <p:spPr>
          <a:xfrm>
            <a:off x="3197225" y="4408805"/>
            <a:ext cx="5969000" cy="860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要收集到较干燥的氧气：选用</a:t>
            </a:r>
            <a:r>
              <a:rPr lang="en-US" altLang="x-none" sz="2000" noProof="1">
                <a:solidFill>
                  <a:schemeClr val="bg1"/>
                </a:solidFill>
                <a:latin typeface="+mn-ea"/>
                <a:cs typeface="+mn-ea"/>
              </a:rPr>
              <a:t>_____________</a:t>
            </a:r>
            <a:r>
              <a:rPr lang="en-US" altLang="x-none" sz="2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______</a:t>
            </a: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。</a:t>
            </a:r>
            <a:endParaRPr lang="zh-CN" altLang="en-US" sz="2000" noProof="1">
              <a:solidFill>
                <a:schemeClr val="bg1"/>
              </a:solidFill>
              <a:latin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要收集到较纯净的氧气：选用</a:t>
            </a:r>
            <a:r>
              <a:rPr lang="en-US" altLang="x-none" sz="2000" noProof="1">
                <a:solidFill>
                  <a:schemeClr val="bg1"/>
                </a:solidFill>
                <a:latin typeface="+mn-ea"/>
                <a:cs typeface="+mn-ea"/>
              </a:rPr>
              <a:t>_____________</a:t>
            </a:r>
            <a:r>
              <a:rPr lang="en-US" altLang="x-none" sz="2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______</a:t>
            </a: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dirty="0">
                  <a:solidFill>
                    <a:schemeClr val="bg1"/>
                  </a:solidFill>
                </a:rPr>
                <a:t>思考与交流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2256790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130" name="文本框 40961"/>
          <p:cNvSpPr txBox="1"/>
          <p:nvPr/>
        </p:nvSpPr>
        <p:spPr>
          <a:xfrm>
            <a:off x="2717165" y="1773471"/>
            <a:ext cx="29908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氧气的收集方法是什么？</a:t>
            </a:r>
            <a:endParaRPr lang="zh-CN" altLang="en-US" sz="2000" noProof="1">
              <a:solidFill>
                <a:schemeClr val="bg1"/>
              </a:solidFill>
              <a:latin typeface="+mn-ea"/>
              <a:cs typeface="+mn-ea"/>
              <a:sym typeface="Wingdings" panose="05000000000000000000" pitchFamily="2" charset="2"/>
            </a:endParaRPr>
          </a:p>
        </p:txBody>
      </p:sp>
      <p:sp>
        <p:nvSpPr>
          <p:cNvPr id="48132" name="文本框 40963"/>
          <p:cNvSpPr txBox="1"/>
          <p:nvPr/>
        </p:nvSpPr>
        <p:spPr>
          <a:xfrm>
            <a:off x="2717165" y="2491816"/>
            <a:ext cx="2734811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000" noProof="1">
                <a:solidFill>
                  <a:schemeClr val="bg1"/>
                </a:solidFill>
                <a:latin typeface="+mn-ea"/>
                <a:cs typeface="+mn-ea"/>
                <a:sym typeface="Wingdings" panose="05000000000000000000" pitchFamily="2" charset="2"/>
              </a:rPr>
              <a:t>(1) </a:t>
            </a: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  <a:sym typeface="Wingdings" panose="05000000000000000000" pitchFamily="2" charset="2"/>
              </a:rPr>
              <a:t>排水法  </a:t>
            </a:r>
            <a:endParaRPr lang="en-US" altLang="zh-CN" sz="2000" noProof="1">
              <a:solidFill>
                <a:schemeClr val="bg1"/>
              </a:solidFill>
              <a:latin typeface="+mn-ea"/>
              <a:cs typeface="+mn-ea"/>
              <a:sym typeface="Wingdings" panose="05000000000000000000" pitchFamily="2" charset="2"/>
            </a:endParaRPr>
          </a:p>
        </p:txBody>
      </p:sp>
      <p:sp>
        <p:nvSpPr>
          <p:cNvPr id="48133" name="文本框 40964"/>
          <p:cNvSpPr txBox="1"/>
          <p:nvPr/>
        </p:nvSpPr>
        <p:spPr>
          <a:xfrm>
            <a:off x="5285263" y="2476219"/>
            <a:ext cx="40322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  <a:sym typeface="Wingdings" panose="05000000000000000000" pitchFamily="2" charset="2"/>
              </a:rPr>
              <a:t>氧气不易溶于水。</a:t>
            </a:r>
          </a:p>
        </p:txBody>
      </p:sp>
      <p:sp>
        <p:nvSpPr>
          <p:cNvPr id="48134" name="文本框 40965"/>
          <p:cNvSpPr txBox="1"/>
          <p:nvPr/>
        </p:nvSpPr>
        <p:spPr>
          <a:xfrm>
            <a:off x="5285263" y="3295648"/>
            <a:ext cx="489743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  <a:sym typeface="Wingdings" panose="05000000000000000000" pitchFamily="2" charset="2"/>
              </a:rPr>
              <a:t>氧气的密度比空气略大。</a:t>
            </a:r>
          </a:p>
        </p:txBody>
      </p:sp>
      <p:sp>
        <p:nvSpPr>
          <p:cNvPr id="48136" name="文本框 40967"/>
          <p:cNvSpPr txBox="1"/>
          <p:nvPr/>
        </p:nvSpPr>
        <p:spPr>
          <a:xfrm>
            <a:off x="6762115" y="4358005"/>
            <a:ext cx="1943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2000" b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cs typeface="+mn-ea"/>
                <a:sym typeface="Wingdings" panose="05000000000000000000" pitchFamily="2" charset="2"/>
              </a:rPr>
              <a:t>向上排空气法</a:t>
            </a:r>
            <a:endParaRPr lang="zh-CN" altLang="en-US" sz="2000" b="1" noProof="1">
              <a:solidFill>
                <a:schemeClr val="accent2">
                  <a:lumMod val="60000"/>
                  <a:lumOff val="4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8137" name="文本框 40968"/>
          <p:cNvSpPr txBox="1"/>
          <p:nvPr/>
        </p:nvSpPr>
        <p:spPr>
          <a:xfrm>
            <a:off x="7192010" y="4813935"/>
            <a:ext cx="11112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cs typeface="+mn-ea"/>
                <a:sym typeface="Wingdings" panose="05000000000000000000" pitchFamily="2" charset="2"/>
              </a:rPr>
              <a:t>排水法</a:t>
            </a:r>
          </a:p>
        </p:txBody>
      </p:sp>
      <p:sp>
        <p:nvSpPr>
          <p:cNvPr id="2" name="矩形 1"/>
          <p:cNvSpPr/>
          <p:nvPr/>
        </p:nvSpPr>
        <p:spPr>
          <a:xfrm>
            <a:off x="2717165" y="3301056"/>
            <a:ext cx="21948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2000" noProof="1">
                <a:solidFill>
                  <a:prstClr val="white"/>
                </a:solidFill>
                <a:latin typeface="微软雅黑" panose="020B0503020204020204" charset="-122"/>
                <a:cs typeface="+mn-ea"/>
                <a:sym typeface="Wingdings" panose="05000000000000000000" pitchFamily="2" charset="2"/>
              </a:rPr>
              <a:t>(2) </a:t>
            </a:r>
            <a:r>
              <a:rPr lang="zh-CN" altLang="en-US" sz="2000" noProof="1">
                <a:solidFill>
                  <a:prstClr val="white"/>
                </a:solidFill>
                <a:latin typeface="微软雅黑" panose="020B0503020204020204" charset="-122"/>
                <a:cs typeface="+mn-ea"/>
                <a:sym typeface="Wingdings" panose="05000000000000000000" pitchFamily="2" charset="2"/>
              </a:rPr>
              <a:t>向上排空气法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48134" grpId="0"/>
      <p:bldP spid="48136" grpId="0"/>
      <p:bldP spid="481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75105" y="946150"/>
            <a:ext cx="4211955" cy="544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351915" y="1900555"/>
            <a:ext cx="4567555" cy="3451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494596" y="499261"/>
            <a:ext cx="4646364" cy="763500"/>
            <a:chOff x="4115092" y="1451667"/>
            <a:chExt cx="4646364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414401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ym typeface="+mn-ea"/>
                </a:rPr>
                <a:t>2.</a:t>
              </a:r>
              <a:r>
                <a:rPr kumimoji="1" lang="zh-CN" altLang="en-US" dirty="0">
                  <a:sym typeface="+mn-ea"/>
                </a:rPr>
                <a:t>检查装置气密性的方法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443674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990" name="矩形 33797"/>
          <p:cNvSpPr>
            <a:spLocks noChangeArrowheads="1"/>
          </p:cNvSpPr>
          <p:nvPr/>
        </p:nvSpPr>
        <p:spPr bwMode="auto">
          <a:xfrm>
            <a:off x="7336790" y="2823210"/>
            <a:ext cx="4228465" cy="1940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170" tIns="46990" rIns="90170" bIns="4699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将导管一端伸入水中，用手紧握试管，导管口有气泡冒出，松开手，导管内有一段水柱。说明装置气密性良好。</a:t>
            </a:r>
          </a:p>
        </p:txBody>
      </p:sp>
      <p:sp>
        <p:nvSpPr>
          <p:cNvPr id="2" name="矩形 1"/>
          <p:cNvSpPr/>
          <p:nvPr/>
        </p:nvSpPr>
        <p:spPr>
          <a:xfrm>
            <a:off x="7336790" y="2424430"/>
            <a:ext cx="1067435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方法一：</a:t>
            </a:r>
          </a:p>
        </p:txBody>
      </p:sp>
      <p:pic>
        <p:nvPicPr>
          <p:cNvPr id="6" name="图片 5" descr="3-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2130" y="2220595"/>
            <a:ext cx="3227070" cy="28111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75105" y="946150"/>
            <a:ext cx="4211955" cy="544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1351915" y="1900555"/>
            <a:ext cx="4567555" cy="3451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33797"/>
          <p:cNvSpPr>
            <a:spLocks noChangeArrowheads="1"/>
          </p:cNvSpPr>
          <p:nvPr/>
        </p:nvSpPr>
        <p:spPr bwMode="auto">
          <a:xfrm>
            <a:off x="7336790" y="2823210"/>
            <a:ext cx="4228465" cy="1940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170" tIns="46990" rIns="90170" bIns="4699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关闭分液漏斗的活塞，把导管放入水里，双手紧握烧瓶外壁，见导管口有气泡冒出，松开手，导管有一段水柱，说明装置气密性良好。</a:t>
            </a:r>
          </a:p>
        </p:txBody>
      </p:sp>
      <p:sp>
        <p:nvSpPr>
          <p:cNvPr id="13" name="矩形 12"/>
          <p:cNvSpPr/>
          <p:nvPr/>
        </p:nvSpPr>
        <p:spPr>
          <a:xfrm>
            <a:off x="7336790" y="2424430"/>
            <a:ext cx="1067435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方法二：</a:t>
            </a:r>
          </a:p>
        </p:txBody>
      </p:sp>
      <p:pic>
        <p:nvPicPr>
          <p:cNvPr id="2" name="图片 1" descr="4-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370" y="2092960"/>
            <a:ext cx="3020060" cy="30670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75105" y="946150"/>
            <a:ext cx="4211955" cy="544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1351915" y="1900555"/>
            <a:ext cx="4567555" cy="3451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33797"/>
          <p:cNvSpPr>
            <a:spLocks noChangeArrowheads="1"/>
          </p:cNvSpPr>
          <p:nvPr/>
        </p:nvSpPr>
        <p:spPr bwMode="auto">
          <a:xfrm>
            <a:off x="7336790" y="2823210"/>
            <a:ext cx="4228465" cy="1478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170" tIns="46990" rIns="90170" bIns="4699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用止水夹夹紧橡皮胶管，往长颈漏斗加水，能形成一段稳定的水柱，说明装置气密性良好。</a:t>
            </a:r>
          </a:p>
        </p:txBody>
      </p:sp>
      <p:sp>
        <p:nvSpPr>
          <p:cNvPr id="13" name="矩形 12"/>
          <p:cNvSpPr/>
          <p:nvPr/>
        </p:nvSpPr>
        <p:spPr>
          <a:xfrm>
            <a:off x="7336790" y="2424430"/>
            <a:ext cx="1067435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方法三：</a:t>
            </a:r>
          </a:p>
        </p:txBody>
      </p:sp>
      <p:pic>
        <p:nvPicPr>
          <p:cNvPr id="2" name="图片 1" descr="5-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220" y="2143125"/>
            <a:ext cx="3134995" cy="29667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3.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实验步骤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224345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867" name="矩形 46082"/>
          <p:cNvSpPr>
            <a:spLocks noChangeArrowheads="1"/>
          </p:cNvSpPr>
          <p:nvPr/>
        </p:nvSpPr>
        <p:spPr bwMode="auto">
          <a:xfrm>
            <a:off x="4838232" y="1376364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）查：</a:t>
            </a:r>
          </a:p>
        </p:txBody>
      </p:sp>
      <p:sp>
        <p:nvSpPr>
          <p:cNvPr id="36868" name="文本框 46083"/>
          <p:cNvSpPr txBox="1">
            <a:spLocks noChangeArrowheads="1"/>
          </p:cNvSpPr>
          <p:nvPr/>
        </p:nvSpPr>
        <p:spPr bwMode="auto">
          <a:xfrm>
            <a:off x="6316992" y="1376722"/>
            <a:ext cx="389572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3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检查装置气密性</a:t>
            </a:r>
          </a:p>
        </p:txBody>
      </p:sp>
      <p:sp>
        <p:nvSpPr>
          <p:cNvPr id="36869" name="文本框 46084"/>
          <p:cNvSpPr txBox="1">
            <a:spLocks noChangeArrowheads="1"/>
          </p:cNvSpPr>
          <p:nvPr/>
        </p:nvSpPr>
        <p:spPr bwMode="auto">
          <a:xfrm>
            <a:off x="4838232" y="1999926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）装：</a:t>
            </a:r>
          </a:p>
        </p:txBody>
      </p:sp>
      <p:sp>
        <p:nvSpPr>
          <p:cNvPr id="36870" name="矩形 46085"/>
          <p:cNvSpPr>
            <a:spLocks noChangeArrowheads="1"/>
          </p:cNvSpPr>
          <p:nvPr/>
        </p:nvSpPr>
        <p:spPr bwMode="auto">
          <a:xfrm>
            <a:off x="6316992" y="2019989"/>
            <a:ext cx="1198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+mn-ea"/>
              </a:rPr>
              <a:t>装入药品</a:t>
            </a:r>
          </a:p>
        </p:txBody>
      </p:sp>
      <p:sp>
        <p:nvSpPr>
          <p:cNvPr id="36871" name="矩形 46086"/>
          <p:cNvSpPr/>
          <p:nvPr/>
        </p:nvSpPr>
        <p:spPr>
          <a:xfrm>
            <a:off x="7864487" y="2019989"/>
            <a:ext cx="297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noProof="1">
                <a:solidFill>
                  <a:schemeClr val="bg1"/>
                </a:solidFill>
                <a:latin typeface="+mn-ea"/>
                <a:cs typeface="+mn-ea"/>
              </a:rPr>
              <a:t>（试管口要放一团棉花）</a:t>
            </a:r>
          </a:p>
        </p:txBody>
      </p:sp>
      <p:sp>
        <p:nvSpPr>
          <p:cNvPr id="36872" name="文本框 46087"/>
          <p:cNvSpPr txBox="1">
            <a:spLocks noChangeArrowheads="1"/>
          </p:cNvSpPr>
          <p:nvPr/>
        </p:nvSpPr>
        <p:spPr bwMode="auto">
          <a:xfrm>
            <a:off x="4838232" y="2636188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）定：</a:t>
            </a:r>
          </a:p>
        </p:txBody>
      </p:sp>
      <p:sp>
        <p:nvSpPr>
          <p:cNvPr id="36873" name="矩形 46088"/>
          <p:cNvSpPr>
            <a:spLocks noChangeArrowheads="1"/>
          </p:cNvSpPr>
          <p:nvPr/>
        </p:nvSpPr>
        <p:spPr bwMode="auto">
          <a:xfrm>
            <a:off x="6316992" y="2655238"/>
            <a:ext cx="1198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+mn-ea"/>
              </a:rPr>
              <a:t>固定装置</a:t>
            </a:r>
          </a:p>
        </p:txBody>
      </p:sp>
      <p:sp>
        <p:nvSpPr>
          <p:cNvPr id="36874" name="文本框 46089"/>
          <p:cNvSpPr txBox="1">
            <a:spLocks noChangeArrowheads="1"/>
          </p:cNvSpPr>
          <p:nvPr/>
        </p:nvSpPr>
        <p:spPr bwMode="auto">
          <a:xfrm>
            <a:off x="7864487" y="2636188"/>
            <a:ext cx="2976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（试管口要稍向下倾斜）</a:t>
            </a:r>
          </a:p>
        </p:txBody>
      </p:sp>
      <p:sp>
        <p:nvSpPr>
          <p:cNvPr id="3" name="文本框 46090"/>
          <p:cNvSpPr txBox="1">
            <a:spLocks noChangeArrowheads="1"/>
          </p:cNvSpPr>
          <p:nvPr/>
        </p:nvSpPr>
        <p:spPr bwMode="auto">
          <a:xfrm>
            <a:off x="4838232" y="3248216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+mn-ea"/>
              </a:rPr>
              <a:t>4</a:t>
            </a:r>
            <a:r>
              <a:rPr lang="zh-CN" altLang="en-US" sz="2000">
                <a:solidFill>
                  <a:schemeClr val="bg1"/>
                </a:solidFill>
                <a:latin typeface="+mn-ea"/>
              </a:rPr>
              <a:t>）点：</a:t>
            </a:r>
          </a:p>
        </p:txBody>
      </p:sp>
      <p:sp>
        <p:nvSpPr>
          <p:cNvPr id="4" name="文本框 46091"/>
          <p:cNvSpPr txBox="1">
            <a:spLocks noChangeArrowheads="1"/>
          </p:cNvSpPr>
          <p:nvPr/>
        </p:nvSpPr>
        <p:spPr bwMode="auto">
          <a:xfrm>
            <a:off x="6316992" y="3248002"/>
            <a:ext cx="5703888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点燃酒精灯加热     （先要预热）</a:t>
            </a:r>
          </a:p>
        </p:txBody>
      </p:sp>
      <p:sp>
        <p:nvSpPr>
          <p:cNvPr id="5" name="文本框 46092"/>
          <p:cNvSpPr txBox="1">
            <a:spLocks noChangeArrowheads="1"/>
          </p:cNvSpPr>
          <p:nvPr/>
        </p:nvSpPr>
        <p:spPr bwMode="auto">
          <a:xfrm>
            <a:off x="4838232" y="3863046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）收：</a:t>
            </a:r>
          </a:p>
        </p:txBody>
      </p:sp>
      <p:sp>
        <p:nvSpPr>
          <p:cNvPr id="6" name="矩形 46093"/>
          <p:cNvSpPr>
            <a:spLocks noChangeArrowheads="1"/>
          </p:cNvSpPr>
          <p:nvPr/>
        </p:nvSpPr>
        <p:spPr bwMode="auto">
          <a:xfrm>
            <a:off x="6316992" y="3863221"/>
            <a:ext cx="6551613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3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收集气体      （气泡连续、均匀放出时）</a:t>
            </a:r>
          </a:p>
        </p:txBody>
      </p:sp>
      <p:sp>
        <p:nvSpPr>
          <p:cNvPr id="7" name="文本框 46094"/>
          <p:cNvSpPr txBox="1">
            <a:spLocks noChangeArrowheads="1"/>
          </p:cNvSpPr>
          <p:nvPr/>
        </p:nvSpPr>
        <p:spPr bwMode="auto">
          <a:xfrm>
            <a:off x="4838232" y="4487860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+mn-ea"/>
              </a:rPr>
              <a:t>6</a:t>
            </a:r>
            <a:r>
              <a:rPr lang="zh-CN" altLang="en-US" sz="2000">
                <a:solidFill>
                  <a:schemeClr val="bg1"/>
                </a:solidFill>
                <a:latin typeface="+mn-ea"/>
              </a:rPr>
              <a:t>）离：</a:t>
            </a:r>
          </a:p>
        </p:txBody>
      </p:sp>
      <p:sp>
        <p:nvSpPr>
          <p:cNvPr id="8" name="文本框 46095"/>
          <p:cNvSpPr txBox="1">
            <a:spLocks noChangeArrowheads="1"/>
          </p:cNvSpPr>
          <p:nvPr/>
        </p:nvSpPr>
        <p:spPr bwMode="auto">
          <a:xfrm>
            <a:off x="6316992" y="4487860"/>
            <a:ext cx="2214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把导管移离出水面</a:t>
            </a:r>
          </a:p>
        </p:txBody>
      </p:sp>
      <p:sp>
        <p:nvSpPr>
          <p:cNvPr id="9" name="文本框 46096"/>
          <p:cNvSpPr txBox="1">
            <a:spLocks noChangeArrowheads="1"/>
          </p:cNvSpPr>
          <p:nvPr/>
        </p:nvSpPr>
        <p:spPr bwMode="auto">
          <a:xfrm>
            <a:off x="4838232" y="5150312"/>
            <a:ext cx="1348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+mn-ea"/>
              </a:rPr>
              <a:t>7</a:t>
            </a:r>
            <a:r>
              <a:rPr lang="zh-CN" altLang="en-US" sz="2000">
                <a:solidFill>
                  <a:schemeClr val="bg1"/>
                </a:solidFill>
                <a:latin typeface="+mn-ea"/>
              </a:rPr>
              <a:t>）熄：</a:t>
            </a:r>
          </a:p>
        </p:txBody>
      </p:sp>
      <p:sp>
        <p:nvSpPr>
          <p:cNvPr id="10" name="文本框 46097"/>
          <p:cNvSpPr txBox="1">
            <a:spLocks noChangeArrowheads="1"/>
          </p:cNvSpPr>
          <p:nvPr/>
        </p:nvSpPr>
        <p:spPr bwMode="auto">
          <a:xfrm>
            <a:off x="6316992" y="5150312"/>
            <a:ext cx="1452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熄灭酒精灯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75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75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75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75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75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"/>
                            </p:stCondLst>
                            <p:childTnLst>
                              <p:par>
                                <p:cTn id="6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"/>
                            </p:stCondLst>
                            <p:childTnLst>
                              <p:par>
                                <p:cTn id="7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"/>
                            </p:stCondLst>
                            <p:childTnLst>
                              <p:par>
                                <p:cTn id="8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8" grpId="0"/>
      <p:bldP spid="36869" grpId="0"/>
      <p:bldP spid="36870" grpId="0"/>
      <p:bldP spid="36871" grpId="0"/>
      <p:bldP spid="36872" grpId="0"/>
      <p:bldP spid="36873" grpId="0"/>
      <p:bldP spid="36874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8837930" y="2010410"/>
            <a:ext cx="2557780" cy="2836545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4.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检验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12570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890" name="文本框 47105"/>
          <p:cNvSpPr txBox="1">
            <a:spLocks noChangeArrowheads="1"/>
          </p:cNvSpPr>
          <p:nvPr/>
        </p:nvSpPr>
        <p:spPr bwMode="auto">
          <a:xfrm>
            <a:off x="976630" y="2726055"/>
            <a:ext cx="3571240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如何检验收集到的是氧气？）</a:t>
            </a:r>
          </a:p>
        </p:txBody>
      </p:sp>
      <p:sp>
        <p:nvSpPr>
          <p:cNvPr id="37891" name="文本框 47106"/>
          <p:cNvSpPr txBox="1">
            <a:spLocks noChangeArrowheads="1"/>
          </p:cNvSpPr>
          <p:nvPr/>
        </p:nvSpPr>
        <p:spPr bwMode="auto">
          <a:xfrm>
            <a:off x="976630" y="3431413"/>
            <a:ext cx="7438390" cy="4298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将一支带火星的木条伸进集气瓶内，若木条复燃，证明是氧气。</a:t>
            </a:r>
          </a:p>
        </p:txBody>
      </p:sp>
      <p:pic>
        <p:nvPicPr>
          <p:cNvPr id="2" name="图片 1" descr="2-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005" y="2010410"/>
            <a:ext cx="1866265" cy="2787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5.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验满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12570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918970" y="4104005"/>
            <a:ext cx="337693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①  用排水法收集：当集气瓶的瓶口有气泡冒出时，证明已收集满。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66560" y="4104005"/>
            <a:ext cx="341693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②  用向上排空气法收集：将带火星的木条放在集气瓶口，若木条复燃，证明已收集满。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l="62418" t="35788" r="-964"/>
          <a:stretch>
            <a:fillRect/>
          </a:stretch>
        </p:blipFill>
        <p:spPr>
          <a:xfrm>
            <a:off x="2515870" y="1539875"/>
            <a:ext cx="2183765" cy="2390775"/>
          </a:xfrm>
          <a:prstGeom prst="rect">
            <a:avLst/>
          </a:prstGeom>
        </p:spPr>
      </p:pic>
      <p:pic>
        <p:nvPicPr>
          <p:cNvPr id="2" name="图片 1" descr="2-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8425" y="1829435"/>
            <a:ext cx="1470660" cy="2196465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1649095" y="1724660"/>
            <a:ext cx="3916680" cy="4343400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517005" y="1724660"/>
            <a:ext cx="3916680" cy="4343400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  <a:noFill/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6.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存放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  <a:grpFill/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1512570" cy="0"/>
            </a:xfrm>
            <a:prstGeom prst="line">
              <a:avLst/>
            </a:prstGeom>
            <a:grpFill/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6-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424" y="2381250"/>
            <a:ext cx="1255395" cy="199009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6980614" y="2202180"/>
            <a:ext cx="2183765" cy="2421890"/>
          </a:xfrm>
          <a:prstGeom prst="roundRect">
            <a:avLst/>
          </a:prstGeom>
          <a:noFill/>
          <a:ln w="25400">
            <a:solidFill>
              <a:srgbClr val="155C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90" name="文本框 47105"/>
          <p:cNvSpPr txBox="1">
            <a:spLocks noChangeArrowheads="1"/>
          </p:cNvSpPr>
          <p:nvPr/>
        </p:nvSpPr>
        <p:spPr bwMode="auto">
          <a:xfrm>
            <a:off x="1624036" y="2829750"/>
            <a:ext cx="4658995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sz="2000" dirty="0" err="1">
                <a:solidFill>
                  <a:schemeClr val="bg1"/>
                </a:solidFill>
                <a:latin typeface="+mn-ea"/>
              </a:rPr>
              <a:t>方法：盖好玻璃片，正放在桌面上</a:t>
            </a:r>
            <a:endParaRPr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891" name="文本框 47106"/>
          <p:cNvSpPr txBox="1">
            <a:spLocks noChangeArrowheads="1"/>
          </p:cNvSpPr>
          <p:nvPr/>
        </p:nvSpPr>
        <p:spPr bwMode="auto">
          <a:xfrm>
            <a:off x="1624036" y="3516820"/>
            <a:ext cx="3997960" cy="4298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原因：氧气密度比空气略大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框 48129"/>
          <p:cNvSpPr txBox="1">
            <a:spLocks noChangeArrowheads="1"/>
          </p:cNvSpPr>
          <p:nvPr/>
        </p:nvSpPr>
        <p:spPr bwMode="auto">
          <a:xfrm>
            <a:off x="826740" y="2261101"/>
            <a:ext cx="338010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）导管伸入试管不能太长</a:t>
            </a:r>
          </a:p>
        </p:txBody>
      </p:sp>
      <p:sp>
        <p:nvSpPr>
          <p:cNvPr id="38915" name="文本框 48130"/>
          <p:cNvSpPr txBox="1">
            <a:spLocks noChangeArrowheads="1"/>
          </p:cNvSpPr>
          <p:nvPr/>
        </p:nvSpPr>
        <p:spPr bwMode="auto">
          <a:xfrm>
            <a:off x="826740" y="1560195"/>
            <a:ext cx="382905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）铁夹夹在离试管口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</a:t>
            </a:r>
          </a:p>
        </p:txBody>
      </p:sp>
      <p:sp>
        <p:nvSpPr>
          <p:cNvPr id="38916" name="文本框 48131"/>
          <p:cNvSpPr txBox="1">
            <a:spLocks noChangeArrowheads="1"/>
          </p:cNvSpPr>
          <p:nvPr/>
        </p:nvSpPr>
        <p:spPr bwMode="auto">
          <a:xfrm>
            <a:off x="1440150" y="2789748"/>
            <a:ext cx="321564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zh-CN" altLang="en-US" sz="2000" i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不利于气体的排出</a:t>
            </a:r>
          </a:p>
        </p:txBody>
      </p:sp>
      <p:sp>
        <p:nvSpPr>
          <p:cNvPr id="38918" name="文本框 48133"/>
          <p:cNvSpPr txBox="1">
            <a:spLocks noChangeArrowheads="1"/>
          </p:cNvSpPr>
          <p:nvPr/>
        </p:nvSpPr>
        <p:spPr bwMode="auto">
          <a:xfrm>
            <a:off x="826740" y="3523615"/>
            <a:ext cx="327215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试管口略向下倾斜</a:t>
            </a:r>
          </a:p>
        </p:txBody>
      </p:sp>
      <p:sp>
        <p:nvSpPr>
          <p:cNvPr id="38919" name="文本框 48134"/>
          <p:cNvSpPr txBox="1">
            <a:spLocks noChangeArrowheads="1"/>
          </p:cNvSpPr>
          <p:nvPr/>
        </p:nvSpPr>
        <p:spPr bwMode="auto">
          <a:xfrm>
            <a:off x="1440150" y="4058092"/>
            <a:ext cx="405384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zh-CN" altLang="en-US" sz="2000" i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防止冷凝水倒流</a:t>
            </a:r>
            <a:r>
              <a:rPr lang="en-US" altLang="zh-CN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使试管炸裂</a:t>
            </a:r>
          </a:p>
        </p:txBody>
      </p:sp>
      <p:sp>
        <p:nvSpPr>
          <p:cNvPr id="39938" name="文本框 49153"/>
          <p:cNvSpPr txBox="1">
            <a:spLocks noChangeArrowheads="1"/>
          </p:cNvSpPr>
          <p:nvPr/>
        </p:nvSpPr>
        <p:spPr bwMode="auto">
          <a:xfrm>
            <a:off x="6321425" y="2261235"/>
            <a:ext cx="460184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）等有连续的气泡产生时再收集</a:t>
            </a:r>
          </a:p>
        </p:txBody>
      </p:sp>
      <p:sp>
        <p:nvSpPr>
          <p:cNvPr id="39939" name="文本框 49154"/>
          <p:cNvSpPr txBox="1">
            <a:spLocks noChangeArrowheads="1"/>
          </p:cNvSpPr>
          <p:nvPr/>
        </p:nvSpPr>
        <p:spPr bwMode="auto">
          <a:xfrm>
            <a:off x="6956596" y="2659881"/>
            <a:ext cx="440866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zh-CN" altLang="en-US" sz="2000" i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刚产生的气泡中混有空气，这时的气体不纯</a:t>
            </a:r>
          </a:p>
        </p:txBody>
      </p:sp>
      <p:sp>
        <p:nvSpPr>
          <p:cNvPr id="39940" name="文本框 49155"/>
          <p:cNvSpPr txBox="1">
            <a:spLocks noChangeArrowheads="1"/>
          </p:cNvSpPr>
          <p:nvPr/>
        </p:nvSpPr>
        <p:spPr bwMode="auto">
          <a:xfrm>
            <a:off x="6332855" y="3561461"/>
            <a:ext cx="42030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）实验完毕先撤导管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后移酒精灯</a:t>
            </a:r>
          </a:p>
        </p:txBody>
      </p:sp>
      <p:sp>
        <p:nvSpPr>
          <p:cNvPr id="39941" name="文本框 49156"/>
          <p:cNvSpPr txBox="1">
            <a:spLocks noChangeArrowheads="1"/>
          </p:cNvSpPr>
          <p:nvPr/>
        </p:nvSpPr>
        <p:spPr bwMode="auto">
          <a:xfrm>
            <a:off x="6956596" y="4019844"/>
            <a:ext cx="3738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zh-CN" altLang="en-US" sz="2000" i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防止水倒吸，使试管炸裂</a:t>
            </a:r>
          </a:p>
        </p:txBody>
      </p:sp>
      <p:sp>
        <p:nvSpPr>
          <p:cNvPr id="2" name="文本框 48136"/>
          <p:cNvSpPr txBox="1">
            <a:spLocks noChangeArrowheads="1"/>
          </p:cNvSpPr>
          <p:nvPr/>
        </p:nvSpPr>
        <p:spPr bwMode="auto">
          <a:xfrm>
            <a:off x="6304280" y="1560195"/>
            <a:ext cx="566991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）加热时要先预热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再对准药品部位加热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94596" y="499261"/>
            <a:ext cx="5860415" cy="763500"/>
            <a:chOff x="4115092" y="1451667"/>
            <a:chExt cx="5860415" cy="763500"/>
          </a:xfrm>
        </p:grpSpPr>
        <p:sp>
          <p:nvSpPr>
            <p:cNvPr id="27" name="内容占位符 2"/>
            <p:cNvSpPr txBox="1"/>
            <p:nvPr/>
          </p:nvSpPr>
          <p:spPr>
            <a:xfrm>
              <a:off x="4597057" y="1451667"/>
              <a:ext cx="5378450" cy="6400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dirty="0">
                  <a:solidFill>
                    <a:schemeClr val="bg1"/>
                  </a:solidFill>
                </a:rPr>
                <a:t>7.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注意事项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29" name="直线连接符 28"/>
            <p:cNvCxnSpPr/>
            <p:nvPr/>
          </p:nvCxnSpPr>
          <p:spPr>
            <a:xfrm>
              <a:off x="4324711" y="1986821"/>
              <a:ext cx="2192655" cy="0"/>
            </a:xfrm>
            <a:prstGeom prst="line">
              <a:avLst/>
            </a:prstGeom>
            <a:ln>
              <a:solidFill>
                <a:srgbClr val="FFFFFF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直接连接符 2"/>
          <p:cNvCxnSpPr/>
          <p:nvPr/>
        </p:nvCxnSpPr>
        <p:spPr>
          <a:xfrm>
            <a:off x="5628005" y="1490345"/>
            <a:ext cx="0" cy="2956560"/>
          </a:xfrm>
          <a:prstGeom prst="line">
            <a:avLst/>
          </a:prstGeom>
          <a:ln w="25400">
            <a:solidFill>
              <a:srgbClr val="184C5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  <p:bldP spid="38919" grpId="0"/>
      <p:bldP spid="39939" grpId="0"/>
      <p:bldP spid="399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4-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19050" y="-12065"/>
            <a:ext cx="12210415" cy="686879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94596" y="499261"/>
            <a:ext cx="3993708" cy="763500"/>
            <a:chOff x="4115092" y="1451667"/>
            <a:chExt cx="3993708" cy="76350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597250" y="1451667"/>
              <a:ext cx="3511550" cy="6397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dirty="0">
                  <a:sym typeface="+mn-ea"/>
                </a:rPr>
                <a:t>随堂练习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15" name="直线连接符 35"/>
            <p:cNvCxnSpPr/>
            <p:nvPr/>
          </p:nvCxnSpPr>
          <p:spPr>
            <a:xfrm>
              <a:off x="4324711" y="1986821"/>
              <a:ext cx="1994535" cy="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703910" y="1429458"/>
            <a:ext cx="8963846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3、实验室制取氧气时，装药品的大试管口应 （       ）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A、朝下                                B、朝上 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C、略向下倾斜                     D、略向上倾斜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4850" y="3194685"/>
            <a:ext cx="87445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4、实验室采用排水法收集氧气时，需将导气管伸入盛满水的集气瓶，这个操作应在（         ）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A、加热固体药品前     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B、与加热固体药品同时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C、开始有气泡放出时   </a:t>
            </a: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D、气泡连续并均匀放出时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147120" y="1536755"/>
            <a:ext cx="3879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31355" y="3761795"/>
            <a:ext cx="4241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2F9FA3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94596" y="499261"/>
            <a:ext cx="3993708" cy="763500"/>
            <a:chOff x="4115092" y="1451667"/>
            <a:chExt cx="3993708" cy="76350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597250" y="1451667"/>
              <a:ext cx="3511550" cy="6397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1" kern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dirty="0">
                  <a:sym typeface="+mn-ea"/>
                </a:rPr>
                <a:t>课堂小结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V="1">
              <a:off x="4115092" y="1462300"/>
              <a:ext cx="375832" cy="752867"/>
            </a:xfrm>
            <a:prstGeom prst="rect">
              <a:avLst/>
            </a:prstGeom>
          </p:spPr>
        </p:pic>
        <p:cxnSp>
          <p:nvCxnSpPr>
            <p:cNvPr id="15" name="直线连接符 35"/>
            <p:cNvCxnSpPr/>
            <p:nvPr/>
          </p:nvCxnSpPr>
          <p:spPr>
            <a:xfrm>
              <a:off x="4324711" y="1986821"/>
              <a:ext cx="1875790" cy="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矩形 46"/>
          <p:cNvSpPr/>
          <p:nvPr/>
        </p:nvSpPr>
        <p:spPr>
          <a:xfrm>
            <a:off x="2558415" y="3410585"/>
            <a:ext cx="1299210" cy="534035"/>
          </a:xfrm>
          <a:prstGeom prst="rect">
            <a:avLst/>
          </a:prstGeom>
          <a:solidFill>
            <a:srgbClr val="165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557561" y="3462459"/>
            <a:ext cx="130048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制取氧气</a:t>
            </a:r>
          </a:p>
        </p:txBody>
      </p:sp>
      <p:sp>
        <p:nvSpPr>
          <p:cNvPr id="45" name="矩形 44"/>
          <p:cNvSpPr/>
          <p:nvPr/>
        </p:nvSpPr>
        <p:spPr>
          <a:xfrm>
            <a:off x="4467225" y="1352550"/>
            <a:ext cx="1096645" cy="415290"/>
          </a:xfrm>
          <a:prstGeom prst="rect">
            <a:avLst/>
          </a:prstGeom>
          <a:solidFill>
            <a:srgbClr val="16586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4467283" y="1375457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分解反应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3970655" y="1550035"/>
            <a:ext cx="346075" cy="3401060"/>
          </a:xfrm>
          <a:prstGeom prst="leftBrace">
            <a:avLst>
              <a:gd name="adj1" fmla="val 27151"/>
              <a:gd name="adj2" fmla="val 50000"/>
            </a:avLst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左大括号 48"/>
          <p:cNvSpPr/>
          <p:nvPr/>
        </p:nvSpPr>
        <p:spPr>
          <a:xfrm>
            <a:off x="5680075" y="1034415"/>
            <a:ext cx="256540" cy="1029970"/>
          </a:xfrm>
          <a:prstGeom prst="leftBrace">
            <a:avLst>
              <a:gd name="adj1" fmla="val 57464"/>
              <a:gd name="adj2" fmla="val 50000"/>
            </a:avLst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003348" y="866187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03348" y="1833927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化合反应和分解反应的区别</a:t>
            </a:r>
          </a:p>
        </p:txBody>
      </p:sp>
      <p:sp>
        <p:nvSpPr>
          <p:cNvPr id="5" name="矩形 4"/>
          <p:cNvSpPr/>
          <p:nvPr/>
        </p:nvSpPr>
        <p:spPr>
          <a:xfrm>
            <a:off x="4457700" y="2839990"/>
            <a:ext cx="1783080" cy="415290"/>
          </a:xfrm>
          <a:prstGeom prst="rect">
            <a:avLst/>
          </a:prstGeom>
          <a:solidFill>
            <a:srgbClr val="16586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457758" y="2862897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氧气的工业制法</a:t>
            </a:r>
          </a:p>
        </p:txBody>
      </p:sp>
      <p:sp>
        <p:nvSpPr>
          <p:cNvPr id="17" name="矩形 16"/>
          <p:cNvSpPr/>
          <p:nvPr/>
        </p:nvSpPr>
        <p:spPr>
          <a:xfrm>
            <a:off x="4457700" y="4686935"/>
            <a:ext cx="3155315" cy="415290"/>
          </a:xfrm>
          <a:prstGeom prst="rect">
            <a:avLst/>
          </a:prstGeom>
          <a:solidFill>
            <a:srgbClr val="16586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457758" y="4709842"/>
            <a:ext cx="315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实验活动：氧气的制取和性质</a:t>
            </a:r>
          </a:p>
        </p:txBody>
      </p:sp>
      <p:sp>
        <p:nvSpPr>
          <p:cNvPr id="24" name="左大括号 23"/>
          <p:cNvSpPr/>
          <p:nvPr/>
        </p:nvSpPr>
        <p:spPr>
          <a:xfrm>
            <a:off x="7724140" y="3736975"/>
            <a:ext cx="294005" cy="2341880"/>
          </a:xfrm>
          <a:prstGeom prst="leftBrace">
            <a:avLst>
              <a:gd name="adj1" fmla="val 57464"/>
              <a:gd name="adj2" fmla="val 50000"/>
            </a:avLst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7992803" y="3561127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制取装置的选择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992803" y="4806362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992803" y="5203872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93438" y="5984922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6375400" y="2515505"/>
            <a:ext cx="256540" cy="1029970"/>
          </a:xfrm>
          <a:prstGeom prst="leftBrace">
            <a:avLst>
              <a:gd name="adj1" fmla="val 57464"/>
              <a:gd name="adj2" fmla="val 50000"/>
            </a:avLst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73273" y="2423477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73273" y="3251517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93438" y="3969432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检查装置气密性的方法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993438" y="4379007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994073" y="5613447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存放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46304" y="2333998"/>
            <a:ext cx="2699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spc="6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火花，不止所见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090" y="490652"/>
            <a:ext cx="1413315" cy="4386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原创设计师QQ598969553             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57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00201" y="5567898"/>
            <a:ext cx="5856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思源黑体 Medium" panose="020B0600000000000000" pitchFamily="34" charset="-128"/>
                <a:ea typeface="思源黑体 Medium" panose="020B0600000000000000" pitchFamily="34" charset="-128"/>
              </a:rPr>
              <a:t>更多火花学院课件模板及素材：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https://</a:t>
            </a:r>
            <a:r>
              <a:rPr kumimoji="1" lang="en-GB" altLang="zh-CN" sz="1400" dirty="0" err="1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www.huohuaschool.com</a:t>
            </a:r>
            <a:endParaRPr kumimoji="1" lang="zh-CN" altLang="en-US" sz="1400" dirty="0">
              <a:solidFill>
                <a:schemeClr val="bg1"/>
              </a:solidFill>
              <a:latin typeface="思源黑体 Normal" panose="020B0400000000000000" pitchFamily="34" charset="-128"/>
              <a:ea typeface="思源黑体 Normal" panose="020B0400000000000000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00201" y="19510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思源黑体 Medium" panose="020B0600000000000000" pitchFamily="34" charset="-128"/>
                <a:ea typeface="思源黑体 Medium" panose="020B0600000000000000" pitchFamily="34" charset="-128"/>
              </a:rPr>
              <a:t>版权声明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00201" y="2412681"/>
            <a:ext cx="9269729" cy="230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60"/>
              </a:lnSpc>
            </a:pP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感谢您下载火花学院提供的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作品，为了您和火花学院以及原创作者的利益，请勿复制、传播、销售，否则将承担法律责任！火花学院将对作品进行维权，按照传播下载次数进行十倍的索取赔偿！</a:t>
            </a:r>
          </a:p>
          <a:p>
            <a:pPr>
              <a:lnSpc>
                <a:spcPts val="2460"/>
              </a:lnSpc>
            </a:pPr>
            <a:endParaRPr kumimoji="1" lang="zh-CN" altLang="en-US" sz="1400" dirty="0">
              <a:solidFill>
                <a:schemeClr val="bg1"/>
              </a:solidFill>
              <a:latin typeface="思源黑体 Normal" panose="020B0400000000000000" pitchFamily="34" charset="-128"/>
              <a:ea typeface="思源黑体 Normal" panose="020B0400000000000000" pitchFamily="34" charset="-128"/>
            </a:endParaRPr>
          </a:p>
          <a:p>
            <a:pPr>
              <a:lnSpc>
                <a:spcPts val="246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1.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 在火花学院出售的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模板是免版税类（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RF</a:t>
            </a:r>
            <a:r>
              <a:rPr kumimoji="1" lang="zh-CN" altLang="en-GB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：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Royalty-Free</a:t>
            </a:r>
            <a:r>
              <a:rPr kumimoji="1" lang="zh-CN" altLang="en-GB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）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正版受</a:t>
            </a: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《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中国人民共和国著作法</a:t>
            </a: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》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和</a:t>
            </a: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《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世界版权公约</a:t>
            </a: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》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的保护，作品的所有权、版权和著作权归火花学院所有，您下载的是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模板素材的使用权。</a:t>
            </a:r>
          </a:p>
          <a:p>
            <a:pPr>
              <a:lnSpc>
                <a:spcPts val="246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2.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 不得将火花学院的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模板、</a:t>
            </a:r>
            <a:r>
              <a:rPr kumimoji="1" lang="en-GB" altLang="zh-CN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素材，本身用于再出售，或者出租、出借、转让、分销、发布或者作为礼物供他人使用，不得转授权、出卖、转让本协议或者本协议中的权利。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217" y="902827"/>
            <a:ext cx="2630074" cy="81623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7456291" y="5567898"/>
            <a:ext cx="1173359" cy="338554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E9632B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点击进入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5688102-5c6f-46ea-8113-880dd9b77d6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1224</Words>
  <Application>Microsoft Office PowerPoint</Application>
  <PresentationFormat>宽屏</PresentationFormat>
  <Paragraphs>214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Source Han Sans SC</vt:lpstr>
      <vt:lpstr>思源黑体 Medium</vt:lpstr>
      <vt:lpstr>思源黑体 Normal</vt:lpstr>
      <vt:lpstr>微软雅黑</vt:lpstr>
      <vt:lpstr>微软雅黑 Light</vt:lpstr>
      <vt:lpstr>印品黑体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huiling dai</cp:lastModifiedBy>
  <cp:revision>110</cp:revision>
  <dcterms:created xsi:type="dcterms:W3CDTF">2019-06-19T02:08:00Z</dcterms:created>
  <dcterms:modified xsi:type="dcterms:W3CDTF">2019-12-26T07:14:24Z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